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147472590" r:id="rId2"/>
    <p:sldId id="2147472589" r:id="rId3"/>
    <p:sldId id="700" r:id="rId4"/>
    <p:sldId id="701" r:id="rId5"/>
    <p:sldId id="702" r:id="rId6"/>
    <p:sldId id="703" r:id="rId7"/>
    <p:sldId id="704" r:id="rId8"/>
    <p:sldId id="705" r:id="rId9"/>
    <p:sldId id="707" r:id="rId10"/>
    <p:sldId id="708" r:id="rId11"/>
    <p:sldId id="70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BED758F4-B1BA-4015-AB38-DF57F522634C}">
          <p14:sldIdLst>
            <p14:sldId id="2147472590"/>
            <p14:sldId id="2147472589"/>
            <p14:sldId id="700"/>
            <p14:sldId id="701"/>
            <p14:sldId id="702"/>
            <p14:sldId id="703"/>
            <p14:sldId id="704"/>
            <p14:sldId id="705"/>
            <p14:sldId id="707"/>
            <p14:sldId id="708"/>
            <p14:sldId id="7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534095-872E-B9BF-000A-877A9D2F4B99}" name="Armani Mikhail Alcayaga" initials="AA" userId="S::aalcayaga@tonik-group.com::88c432e1-ea51-4331-a51f-51ed13965014" providerId="AD"/>
  <p188:author id="{AB7775A1-91B8-AC17-9FB4-3F5C22474ED6}" name="Mike Singh" initials="MS" userId="S::msingh@tonikbank.com::c5b66818-ed9a-49b6-aac0-299a57b7e847" providerId="AD"/>
  <p188:author id="{CA7CEBD3-1B30-E62A-01CE-F2917BC9FE65}" name="Biswa" initials="" userId="S::bbanik@tonikbank.com::26f52a98-3216-49f8-95c0-92c9bbdc30b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5AFF"/>
    <a:srgbClr val="0273BF"/>
    <a:srgbClr val="712EA0"/>
    <a:srgbClr val="F1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79608-2A25-D1E4-A1F1-2F9546BB3086}" v="2" dt="2026-02-19T07:31:34.9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76"/>
  </p:normalViewPr>
  <p:slideViewPr>
    <p:cSldViewPr snapToGrid="0">
      <p:cViewPr varScale="1">
        <p:scale>
          <a:sx n="120" d="100"/>
          <a:sy n="12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5FAA6-7B0F-4CC3-BF1D-79BC1D84B8EA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03CB-0BA0-4CDD-9510-3454B9FD5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17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D3E5B-4BED-B24C-9674-6B6454D0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81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CE4F-941F-72B9-BDBE-9F51A1D7D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DE1AC-09FE-A261-1F13-CFDEBCA29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B1405-DEEE-BDCB-589C-0FAE15BF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44845-033C-B5D4-061B-4BD44312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821F1-127A-E339-79A6-BCA8692E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6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B295-F810-AC97-1336-537D8ACE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02D5B-DD62-7038-C157-D06BA17C2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A6C57-C35B-32E1-0FB5-516C59F6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7B3EF-A72A-3CCE-7718-B3E6AE80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BC1D7-E2B3-2C2A-01C8-FCBC4D1C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5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018C-8FB8-CDC7-4848-E8EE4D2E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CA6E9-3194-FE07-FC59-29550E258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510D-FCD5-DA67-0670-FE42FF6F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AFA9A-22AD-A8B8-7550-1AC0B3A7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3E0D8-0BAA-1CBF-C5B5-2A71DB01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359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3558-6AE0-7C48-904F-292443F4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CCE5-4258-8FD9-34B6-577768265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02128-E378-6CB6-3AA1-54B12248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42B29-18DC-4542-22BF-48854058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74BAE-C1BE-7217-36CA-29A7B2B4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896D2-F480-2F42-C9C9-808804AA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19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99E2-895C-F940-E970-7C2AFD49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BD517-0E8B-9528-9721-AF47CD91C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DE40D-68C6-AB98-8F20-053549551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206E0-F5B2-2CF9-ECB2-A6A029462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6A833-8C4B-5897-4BB8-A4917BAB6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15D0B-65CF-D209-6D67-FE9B5A76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AFE91-5629-086C-F1B4-F7A968BF2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FD9DE-371F-1842-C2F8-C98D6841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7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10ED-50C0-CEA7-F3F7-551ADD9A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30FFC-358D-3E55-7103-5288EBD7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E89E0-18FF-9AA1-5062-BBA816D4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636BD-8107-9893-B683-4A73E4C4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44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4B3F4-F367-F383-8C45-D2990BF8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FA72A-D531-0D83-9607-82150351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A1059-E837-8822-0AB3-68551844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31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2A183-5CE4-B052-480D-7CEC67731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422D7-7ADB-50FF-08B5-1A601D8D2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34778-29B6-0433-C094-E7EBE2D6D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4F0E5-1B9A-41D2-EC67-1CEC92A3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F3685-3F62-4782-0D49-7355E44A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3D3C3-B55D-7209-3C7B-F86188E4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23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24B4-E477-9CF8-A7D1-DA6856E0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B8412-1302-ED6F-B05D-1D527E2E7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400D5-9759-817A-289D-1338A82FD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D0EA1-3244-67A8-B1EB-1FDC97225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9F6F6-2BB0-686A-BE26-B15EFF0A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C3FF1-285A-6F08-08AD-1D59B413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33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882E-FEBB-E8CF-3DF2-FB2A919B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E45C2-925B-C825-67C7-F644E5D9B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636B2-51AC-7038-D9D5-07A4028D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9AFBD-D456-7F88-359D-748E00BD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CD36-829B-5A02-060B-FCFC10B6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44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86900-D229-7BF9-C2C2-176517E66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71EC1-71C9-5509-ED93-75B347B0C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899F-7DA7-09AA-FFC7-AF54DCB8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05BE-84A4-F70D-DD97-A7841EFCC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515DC-1934-D698-130D-C3BCCEC9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881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4B9B66-9816-D51A-F09C-2D0893C1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6DC55-D377-8DDE-9B2A-3DCA53BA8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F756A-D982-72D4-4E64-B9EBC81BB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4E169-2CBE-4EE1-BF11-E0E41621B07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BEF1B-689A-B1A5-0641-E695FCAC9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2FEC-A02F-73B2-5651-751A56FFF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93BBF-DF92-49AC-A5C3-5519F46F4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222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85E29A-358E-F865-7068-9BB99CDF33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85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6E68C1-1703-73CF-D4D8-D10C9607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sr-Latn-R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1EF7E-A717-2F60-65EA-522DDC724E9C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​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01F4EF96-D230-0505-B825-D55DEAD4B2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521" t="26850" r="16351" b="31078"/>
          <a:stretch/>
        </p:blipFill>
        <p:spPr>
          <a:xfrm>
            <a:off x="4102817" y="4736147"/>
            <a:ext cx="3973283" cy="13745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262F3C-E8F8-3342-CA6A-355CE7891986}"/>
              </a:ext>
            </a:extLst>
          </p:cNvPr>
          <p:cNvSpPr txBox="1"/>
          <p:nvPr/>
        </p:nvSpPr>
        <p:spPr>
          <a:xfrm>
            <a:off x="1071616" y="770477"/>
            <a:ext cx="10044821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"/>
                <a:ea typeface="+mn-ea"/>
                <a:cs typeface="Calibri"/>
              </a:rPr>
              <a:t>Each Slide will be a page in the Dashboard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600" b="1" dirty="0">
              <a:solidFill>
                <a:prstClr val="white"/>
              </a:solidFill>
              <a:latin typeface="Univers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"/>
                <a:ea typeface="+mn-ea"/>
                <a:cs typeface="Calibri"/>
              </a:rPr>
              <a:t>Dashboard to be refreshed every month</a:t>
            </a:r>
          </a:p>
        </p:txBody>
      </p:sp>
    </p:spTree>
    <p:extLst>
      <p:ext uri="{BB962C8B-B14F-4D97-AF65-F5344CB8AC3E}">
        <p14:creationId xmlns:p14="http://schemas.microsoft.com/office/powerpoint/2010/main" val="383638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D6696-FEA1-E970-2B31-5577B556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C43C1A6-AF8F-D935-0A55-58669235AC78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634889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6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Early model performance metrics (Gini / C-index) are not decision-grade at this stage and should not be used to judge whether CL+ “worked” or “failed.”  Using them risks false conclusions because most New Scorecard loans and CL+ loans are still not mature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B4C399-672C-1BC7-D72E-F75FB82EE3A3}"/>
              </a:ext>
            </a:extLst>
          </p:cNvPr>
          <p:cNvGraphicFramePr>
            <a:graphicFrameLocks noGrp="1"/>
          </p:cNvGraphicFramePr>
          <p:nvPr/>
        </p:nvGraphicFramePr>
        <p:xfrm>
          <a:off x="271117" y="2156987"/>
          <a:ext cx="11457587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955">
                  <a:extLst>
                    <a:ext uri="{9D8B030D-6E8A-4147-A177-3AD203B41FA5}">
                      <a16:colId xmlns:a16="http://schemas.microsoft.com/office/drawing/2014/main" val="255431678"/>
                    </a:ext>
                  </a:extLst>
                </a:gridCol>
                <a:gridCol w="2170176">
                  <a:extLst>
                    <a:ext uri="{9D8B030D-6E8A-4147-A177-3AD203B41FA5}">
                      <a16:colId xmlns:a16="http://schemas.microsoft.com/office/drawing/2014/main" val="3789926823"/>
                    </a:ext>
                  </a:extLst>
                </a:gridCol>
                <a:gridCol w="1914144">
                  <a:extLst>
                    <a:ext uri="{9D8B030D-6E8A-4147-A177-3AD203B41FA5}">
                      <a16:colId xmlns:a16="http://schemas.microsoft.com/office/drawing/2014/main" val="2655863509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567473778"/>
                    </a:ext>
                  </a:extLst>
                </a:gridCol>
                <a:gridCol w="2243328">
                  <a:extLst>
                    <a:ext uri="{9D8B030D-6E8A-4147-A177-3AD203B41FA5}">
                      <a16:colId xmlns:a16="http://schemas.microsoft.com/office/drawing/2014/main" val="2278680880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/>
                        <a:t>User Type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OOP Repay Model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Attrition Model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7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Dev Gini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Jul – Aug Gini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Dev C-Index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Jul – Aug C-Index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19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New users (&lt; 3MOB)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829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Existing users (&gt;=3 MOB)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0.58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8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39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9AA1-53CC-8862-ECA6-BF6D4FACC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41409C-89C0-FD6C-A8B1-CFC688CAD524}"/>
              </a:ext>
            </a:extLst>
          </p:cNvPr>
          <p:cNvGraphicFramePr>
            <a:graphicFrameLocks noGrp="1"/>
          </p:cNvGraphicFramePr>
          <p:nvPr/>
        </p:nvGraphicFramePr>
        <p:xfrm>
          <a:off x="336449" y="999434"/>
          <a:ext cx="11519101" cy="2636520"/>
        </p:xfrm>
        <a:graphic>
          <a:graphicData uri="http://schemas.openxmlformats.org/drawingml/2006/table">
            <a:tbl>
              <a:tblPr/>
              <a:tblGrid>
                <a:gridCol w="1468879">
                  <a:extLst>
                    <a:ext uri="{9D8B030D-6E8A-4147-A177-3AD203B41FA5}">
                      <a16:colId xmlns:a16="http://schemas.microsoft.com/office/drawing/2014/main" val="356123121"/>
                    </a:ext>
                  </a:extLst>
                </a:gridCol>
                <a:gridCol w="889058">
                  <a:extLst>
                    <a:ext uri="{9D8B030D-6E8A-4147-A177-3AD203B41FA5}">
                      <a16:colId xmlns:a16="http://schemas.microsoft.com/office/drawing/2014/main" val="1108787874"/>
                    </a:ext>
                  </a:extLst>
                </a:gridCol>
                <a:gridCol w="1301374">
                  <a:extLst>
                    <a:ext uri="{9D8B030D-6E8A-4147-A177-3AD203B41FA5}">
                      <a16:colId xmlns:a16="http://schemas.microsoft.com/office/drawing/2014/main" val="3854960305"/>
                    </a:ext>
                  </a:extLst>
                </a:gridCol>
                <a:gridCol w="2229088">
                  <a:extLst>
                    <a:ext uri="{9D8B030D-6E8A-4147-A177-3AD203B41FA5}">
                      <a16:colId xmlns:a16="http://schemas.microsoft.com/office/drawing/2014/main" val="2541918898"/>
                    </a:ext>
                  </a:extLst>
                </a:gridCol>
                <a:gridCol w="3208341">
                  <a:extLst>
                    <a:ext uri="{9D8B030D-6E8A-4147-A177-3AD203B41FA5}">
                      <a16:colId xmlns:a16="http://schemas.microsoft.com/office/drawing/2014/main" val="768635086"/>
                    </a:ext>
                  </a:extLst>
                </a:gridCol>
                <a:gridCol w="2422361">
                  <a:extLst>
                    <a:ext uri="{9D8B030D-6E8A-4147-A177-3AD203B41FA5}">
                      <a16:colId xmlns:a16="http://schemas.microsoft.com/office/drawing/2014/main" val="1693833611"/>
                    </a:ext>
                  </a:extLst>
                </a:gridCol>
              </a:tblGrid>
              <a:tr h="286894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 (OOP v1.0) New users,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285540"/>
                  </a:ext>
                </a:extLst>
              </a:tr>
              <a:tr h="5207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OOP Risk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 Rate, 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as of resignation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for OOP Flag Bads as of today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Outstanding balance bad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546727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54.2%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402,068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201,205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83827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61.5%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334,173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220,990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66.1%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124572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71.4%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165,155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130,177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78.8%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209049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27,811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13,222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47.5%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03891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12,058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9,969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82.7%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365402"/>
                  </a:ext>
                </a:extLst>
              </a:tr>
              <a:tr h="2868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56,229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38,120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67.8%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8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0518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5F7CDC7-BD4B-B236-C545-4DFA37186B2A}"/>
              </a:ext>
            </a:extLst>
          </p:cNvPr>
          <p:cNvGraphicFramePr>
            <a:graphicFrameLocks noGrp="1"/>
          </p:cNvGraphicFramePr>
          <p:nvPr/>
        </p:nvGraphicFramePr>
        <p:xfrm>
          <a:off x="336448" y="3770925"/>
          <a:ext cx="11519101" cy="2636520"/>
        </p:xfrm>
        <a:graphic>
          <a:graphicData uri="http://schemas.openxmlformats.org/drawingml/2006/table">
            <a:tbl>
              <a:tblPr/>
              <a:tblGrid>
                <a:gridCol w="1450788">
                  <a:extLst>
                    <a:ext uri="{9D8B030D-6E8A-4147-A177-3AD203B41FA5}">
                      <a16:colId xmlns:a16="http://schemas.microsoft.com/office/drawing/2014/main" val="2344063113"/>
                    </a:ext>
                  </a:extLst>
                </a:gridCol>
                <a:gridCol w="961997">
                  <a:extLst>
                    <a:ext uri="{9D8B030D-6E8A-4147-A177-3AD203B41FA5}">
                      <a16:colId xmlns:a16="http://schemas.microsoft.com/office/drawing/2014/main" val="3481579863"/>
                    </a:ext>
                  </a:extLst>
                </a:gridCol>
                <a:gridCol w="1268585">
                  <a:extLst>
                    <a:ext uri="{9D8B030D-6E8A-4147-A177-3AD203B41FA5}">
                      <a16:colId xmlns:a16="http://schemas.microsoft.com/office/drawing/2014/main" val="2513233770"/>
                    </a:ext>
                  </a:extLst>
                </a:gridCol>
                <a:gridCol w="2230582">
                  <a:extLst>
                    <a:ext uri="{9D8B030D-6E8A-4147-A177-3AD203B41FA5}">
                      <a16:colId xmlns:a16="http://schemas.microsoft.com/office/drawing/2014/main" val="2430245366"/>
                    </a:ext>
                  </a:extLst>
                </a:gridCol>
                <a:gridCol w="3172691">
                  <a:extLst>
                    <a:ext uri="{9D8B030D-6E8A-4147-A177-3AD203B41FA5}">
                      <a16:colId xmlns:a16="http://schemas.microsoft.com/office/drawing/2014/main" val="2812989885"/>
                    </a:ext>
                  </a:extLst>
                </a:gridCol>
                <a:gridCol w="2434458">
                  <a:extLst>
                    <a:ext uri="{9D8B030D-6E8A-4147-A177-3AD203B41FA5}">
                      <a16:colId xmlns:a16="http://schemas.microsoft.com/office/drawing/2014/main" val="3473614700"/>
                    </a:ext>
                  </a:extLst>
                </a:gridCol>
              </a:tblGrid>
              <a:tr h="287422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1" i="0" u="none" strike="noStrike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backscored</a:t>
                      </a:r>
                      <a:r>
                        <a:rPr lang="en-SG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(OOP v2.0) New users,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873887"/>
                  </a:ext>
                </a:extLst>
              </a:tr>
              <a:tr h="5217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OOP Risk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 Rate, 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as of resignation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for OOP Flag Bads as of today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Outstanding balance bad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973073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55,830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34,353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61.5%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777685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42.9%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335,549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131,174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39.1%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523375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68.2%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436,137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326,339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74.8%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6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661669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64.3%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74,473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58,834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381233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54.5%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74,519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41,997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56.4%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4125"/>
                  </a:ext>
                </a:extLst>
              </a:tr>
              <a:tr h="2874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20,985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20,985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9279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DE284A2-608D-092A-3828-E41DCD4ACB67}"/>
              </a:ext>
            </a:extLst>
          </p:cNvPr>
          <p:cNvSpPr txBox="1"/>
          <p:nvPr/>
        </p:nvSpPr>
        <p:spPr>
          <a:xfrm>
            <a:off x="10460182" y="961264"/>
            <a:ext cx="1731818" cy="366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Jun – Aug 2025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46F2D26-BA91-4977-34AF-08D444F03B25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634889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did rank order sanity checks to get a feel if our OOP model is directionally correct or not  - for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New Users count too small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98E88-881D-5FBF-554C-F996F3139EA3}"/>
              </a:ext>
            </a:extLst>
          </p:cNvPr>
          <p:cNvSpPr txBox="1"/>
          <p:nvPr/>
        </p:nvSpPr>
        <p:spPr>
          <a:xfrm>
            <a:off x="323289" y="6397454"/>
            <a:ext cx="854810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OOP Model v1.0 = First version of OOP model that went live in June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OOP Model v2.0 = Second version of OOP model with the Region calculation fix, which went live in November 2026</a:t>
            </a:r>
          </a:p>
        </p:txBody>
      </p:sp>
    </p:spTree>
    <p:extLst>
      <p:ext uri="{BB962C8B-B14F-4D97-AF65-F5344CB8AC3E}">
        <p14:creationId xmlns:p14="http://schemas.microsoft.com/office/powerpoint/2010/main" val="364012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4A26F-9C31-78FF-8914-DDBC2CCF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605280-0088-745A-E573-2BF0A5BC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F0D36C-296C-4C41-928D-13DEBF2E67EF}" type="slidenum">
              <a:rPr kumimoji="0" lang="en-P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PH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F1D026-DAB2-7FE4-8020-374EEDBCB233}"/>
              </a:ext>
            </a:extLst>
          </p:cNvPr>
          <p:cNvGraphicFramePr>
            <a:graphicFrameLocks noGrp="1"/>
          </p:cNvGraphicFramePr>
          <p:nvPr/>
        </p:nvGraphicFramePr>
        <p:xfrm>
          <a:off x="615950" y="1010271"/>
          <a:ext cx="10905490" cy="2636520"/>
        </p:xfrm>
        <a:graphic>
          <a:graphicData uri="http://schemas.openxmlformats.org/drawingml/2006/table">
            <a:tbl>
              <a:tblPr/>
              <a:tblGrid>
                <a:gridCol w="1390633">
                  <a:extLst>
                    <a:ext uri="{9D8B030D-6E8A-4147-A177-3AD203B41FA5}">
                      <a16:colId xmlns:a16="http://schemas.microsoft.com/office/drawing/2014/main" val="989206229"/>
                    </a:ext>
                  </a:extLst>
                </a:gridCol>
                <a:gridCol w="841699">
                  <a:extLst>
                    <a:ext uri="{9D8B030D-6E8A-4147-A177-3AD203B41FA5}">
                      <a16:colId xmlns:a16="http://schemas.microsoft.com/office/drawing/2014/main" val="1817912746"/>
                    </a:ext>
                  </a:extLst>
                </a:gridCol>
                <a:gridCol w="1232051">
                  <a:extLst>
                    <a:ext uri="{9D8B030D-6E8A-4147-A177-3AD203B41FA5}">
                      <a16:colId xmlns:a16="http://schemas.microsoft.com/office/drawing/2014/main" val="4264034763"/>
                    </a:ext>
                  </a:extLst>
                </a:gridCol>
                <a:gridCol w="2110347">
                  <a:extLst>
                    <a:ext uri="{9D8B030D-6E8A-4147-A177-3AD203B41FA5}">
                      <a16:colId xmlns:a16="http://schemas.microsoft.com/office/drawing/2014/main" val="2578174033"/>
                    </a:ext>
                  </a:extLst>
                </a:gridCol>
                <a:gridCol w="3037436">
                  <a:extLst>
                    <a:ext uri="{9D8B030D-6E8A-4147-A177-3AD203B41FA5}">
                      <a16:colId xmlns:a16="http://schemas.microsoft.com/office/drawing/2014/main" val="2527911143"/>
                    </a:ext>
                  </a:extLst>
                </a:gridCol>
                <a:gridCol w="2293324">
                  <a:extLst>
                    <a:ext uri="{9D8B030D-6E8A-4147-A177-3AD203B41FA5}">
                      <a16:colId xmlns:a16="http://schemas.microsoft.com/office/drawing/2014/main" val="2296044050"/>
                    </a:ext>
                  </a:extLst>
                </a:gridCol>
              </a:tblGrid>
              <a:tr h="268125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 (OOP v1.0) Existing users,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8217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OOP Risk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 Rate, 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as of resignation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for OOP Flag Bads as of today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Outstanding balance bad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786045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52.4%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1,297,184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700,529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122357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543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58.7%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8,925,530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5,758,196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64.5%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7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333240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737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67.6%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11,742,810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7,364,032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62.7%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466047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597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78.6%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8,881,559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6,668,772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75.1%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464029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240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80.4%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3,176,330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2,505,293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78.9%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E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046418"/>
                  </a:ext>
                </a:extLst>
              </a:tr>
              <a:tr h="268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206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85.9%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2,314,096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1,917,977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82.9%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5861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852EE6-3F57-7C58-1787-ADE4CAC885B4}"/>
              </a:ext>
            </a:extLst>
          </p:cNvPr>
          <p:cNvGraphicFramePr>
            <a:graphicFrameLocks noGrp="1"/>
          </p:cNvGraphicFramePr>
          <p:nvPr/>
        </p:nvGraphicFramePr>
        <p:xfrm>
          <a:off x="615950" y="3774325"/>
          <a:ext cx="10905490" cy="2636520"/>
        </p:xfrm>
        <a:graphic>
          <a:graphicData uri="http://schemas.openxmlformats.org/drawingml/2006/table">
            <a:tbl>
              <a:tblPr/>
              <a:tblGrid>
                <a:gridCol w="1395730">
                  <a:extLst>
                    <a:ext uri="{9D8B030D-6E8A-4147-A177-3AD203B41FA5}">
                      <a16:colId xmlns:a16="http://schemas.microsoft.com/office/drawing/2014/main" val="1557549944"/>
                    </a:ext>
                  </a:extLst>
                </a:gridCol>
                <a:gridCol w="888528">
                  <a:extLst>
                    <a:ext uri="{9D8B030D-6E8A-4147-A177-3AD203B41FA5}">
                      <a16:colId xmlns:a16="http://schemas.microsoft.com/office/drawing/2014/main" val="3029507093"/>
                    </a:ext>
                  </a:extLst>
                </a:gridCol>
                <a:gridCol w="1084233">
                  <a:extLst>
                    <a:ext uri="{9D8B030D-6E8A-4147-A177-3AD203B41FA5}">
                      <a16:colId xmlns:a16="http://schemas.microsoft.com/office/drawing/2014/main" val="3422205197"/>
                    </a:ext>
                  </a:extLst>
                </a:gridCol>
                <a:gridCol w="2209095">
                  <a:extLst>
                    <a:ext uri="{9D8B030D-6E8A-4147-A177-3AD203B41FA5}">
                      <a16:colId xmlns:a16="http://schemas.microsoft.com/office/drawing/2014/main" val="476131375"/>
                    </a:ext>
                  </a:extLst>
                </a:gridCol>
                <a:gridCol w="3023616">
                  <a:extLst>
                    <a:ext uri="{9D8B030D-6E8A-4147-A177-3AD203B41FA5}">
                      <a16:colId xmlns:a16="http://schemas.microsoft.com/office/drawing/2014/main" val="242314082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891932644"/>
                    </a:ext>
                  </a:extLst>
                </a:gridCol>
              </a:tblGrid>
              <a:tr h="255172">
                <a:tc grid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1" i="0" u="none" strike="noStrike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backscored</a:t>
                      </a:r>
                      <a:r>
                        <a:rPr lang="en-SG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(OOP v2.0) Existing users,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582606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OOP Risk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 Rate, 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Osbal as of resignation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Sum </a:t>
                      </a:r>
                      <a:r>
                        <a:rPr lang="en-SG" sz="1600" b="1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Osbal</a:t>
                      </a: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for OOP Flag Bads as of today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Outstanding balance bad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695762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54.9%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1,040,304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562,932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54.1%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535778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337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52.2%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5,578,807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3,183,681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57.1%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433962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404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66.6%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6,980,829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4,894,502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70.1%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74953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352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5,065,675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3,593,751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70.9%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247292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193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81.9%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2,553,277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2,055,875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80.5%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23457"/>
                  </a:ext>
                </a:extLst>
              </a:tr>
              <a:tr h="2551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166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84.3%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1,836,345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1,548,579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84.3%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3800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F7857C-E3A4-77F2-2546-6A82A8F1F87D}"/>
              </a:ext>
            </a:extLst>
          </p:cNvPr>
          <p:cNvSpPr txBox="1"/>
          <p:nvPr/>
        </p:nvSpPr>
        <p:spPr>
          <a:xfrm>
            <a:off x="10002983" y="940216"/>
            <a:ext cx="218901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Jul 2025 snapshot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0664-D98F-DA77-9CF2-C227AF1370E1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634889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did rank order sanity checks to get a feel if our OOP model is directionally correct or not  - for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Existing Users monotonicity is observed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D037B-D790-8A7C-2EE1-C5D54E2400C4}"/>
              </a:ext>
            </a:extLst>
          </p:cNvPr>
          <p:cNvSpPr txBox="1"/>
          <p:nvPr/>
        </p:nvSpPr>
        <p:spPr>
          <a:xfrm>
            <a:off x="592230" y="6423067"/>
            <a:ext cx="854810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OOP Model v1.0 = First version of OOP model that went live in June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OOP Model v2.0 = Second version of OOP model with the Region calculation fix, which went live in November 2026</a:t>
            </a:r>
          </a:p>
        </p:txBody>
      </p:sp>
    </p:spTree>
    <p:extLst>
      <p:ext uri="{BB962C8B-B14F-4D97-AF65-F5344CB8AC3E}">
        <p14:creationId xmlns:p14="http://schemas.microsoft.com/office/powerpoint/2010/main" val="298109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03BFB-C2E0-1E8D-9814-52C3C75B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475D55D-B4DB-09B9-12EE-6B2A1695BA19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634889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did rank order sanity checks to get a feel if our Attrition model is directionally correct or not  - for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New Users count too small and we have only early </a:t>
            </a:r>
            <a:r>
              <a:rPr lang="en-SG" sz="2800">
                <a:solidFill>
                  <a:prstClr val="black"/>
                </a:solidFill>
                <a:latin typeface="Aptos Display" panose="02110004020202020204"/>
              </a:rPr>
              <a:t>resignations</a:t>
            </a:r>
            <a:endParaRPr lang="en-SG" sz="2800" b="1" i="0" u="none" strike="noStrike" kern="1200" cap="none" spc="-9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287EDC-CB23-5266-DF63-3A22284E73D8}"/>
              </a:ext>
            </a:extLst>
          </p:cNvPr>
          <p:cNvGraphicFramePr>
            <a:graphicFrameLocks noGrp="1"/>
          </p:cNvGraphicFramePr>
          <p:nvPr/>
        </p:nvGraphicFramePr>
        <p:xfrm>
          <a:off x="336448" y="1234188"/>
          <a:ext cx="11519100" cy="2354259"/>
        </p:xfrm>
        <a:graphic>
          <a:graphicData uri="http://schemas.openxmlformats.org/drawingml/2006/table">
            <a:tbl>
              <a:tblPr/>
              <a:tblGrid>
                <a:gridCol w="2508328">
                  <a:extLst>
                    <a:ext uri="{9D8B030D-6E8A-4147-A177-3AD203B41FA5}">
                      <a16:colId xmlns:a16="http://schemas.microsoft.com/office/drawing/2014/main" val="4058652793"/>
                    </a:ext>
                  </a:extLst>
                </a:gridCol>
                <a:gridCol w="1169423">
                  <a:extLst>
                    <a:ext uri="{9D8B030D-6E8A-4147-A177-3AD203B41FA5}">
                      <a16:colId xmlns:a16="http://schemas.microsoft.com/office/drawing/2014/main" val="1275212567"/>
                    </a:ext>
                  </a:extLst>
                </a:gridCol>
                <a:gridCol w="1491439">
                  <a:extLst>
                    <a:ext uri="{9D8B030D-6E8A-4147-A177-3AD203B41FA5}">
                      <a16:colId xmlns:a16="http://schemas.microsoft.com/office/drawing/2014/main" val="1033600786"/>
                    </a:ext>
                  </a:extLst>
                </a:gridCol>
                <a:gridCol w="3028071">
                  <a:extLst>
                    <a:ext uri="{9D8B030D-6E8A-4147-A177-3AD203B41FA5}">
                      <a16:colId xmlns:a16="http://schemas.microsoft.com/office/drawing/2014/main" val="4115219464"/>
                    </a:ext>
                  </a:extLst>
                </a:gridCol>
                <a:gridCol w="3321839">
                  <a:extLst>
                    <a:ext uri="{9D8B030D-6E8A-4147-A177-3AD203B41FA5}">
                      <a16:colId xmlns:a16="http://schemas.microsoft.com/office/drawing/2014/main" val="468487202"/>
                    </a:ext>
                  </a:extLst>
                </a:gridCol>
              </a:tblGrid>
              <a:tr h="301889"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 (Attrition v1.0) New users,  prod customers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190264"/>
                  </a:ext>
                </a:extLst>
              </a:tr>
              <a:tr h="52895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 Avg Time to attrition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 Avg Time to attrition for resigned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141014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low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10.3%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164974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13.5%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9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10.3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28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E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884596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11.5%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D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88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3.3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860351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1,074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13.4%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9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261861"/>
                  </a:ext>
                </a:extLst>
              </a:tr>
              <a:tr h="3018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high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638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15.2%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366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325B2E5-9E21-3971-BCDF-3208BDB15D2E}"/>
              </a:ext>
            </a:extLst>
          </p:cNvPr>
          <p:cNvSpPr txBox="1"/>
          <p:nvPr/>
        </p:nvSpPr>
        <p:spPr>
          <a:xfrm>
            <a:off x="10460182" y="1178978"/>
            <a:ext cx="1731818" cy="366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Jun – Aug 2025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C2318F-4F30-2A65-DE8F-DC95E1405805}"/>
              </a:ext>
            </a:extLst>
          </p:cNvPr>
          <p:cNvGraphicFramePr>
            <a:graphicFrameLocks noGrp="1"/>
          </p:cNvGraphicFramePr>
          <p:nvPr/>
        </p:nvGraphicFramePr>
        <p:xfrm>
          <a:off x="336448" y="3859871"/>
          <a:ext cx="11569558" cy="2337435"/>
        </p:xfrm>
        <a:graphic>
          <a:graphicData uri="http://schemas.openxmlformats.org/drawingml/2006/table">
            <a:tbl>
              <a:tblPr/>
              <a:tblGrid>
                <a:gridCol w="2446135">
                  <a:extLst>
                    <a:ext uri="{9D8B030D-6E8A-4147-A177-3AD203B41FA5}">
                      <a16:colId xmlns:a16="http://schemas.microsoft.com/office/drawing/2014/main" val="909083653"/>
                    </a:ext>
                  </a:extLst>
                </a:gridCol>
                <a:gridCol w="1249090">
                  <a:extLst>
                    <a:ext uri="{9D8B030D-6E8A-4147-A177-3AD203B41FA5}">
                      <a16:colId xmlns:a16="http://schemas.microsoft.com/office/drawing/2014/main" val="835857702"/>
                    </a:ext>
                  </a:extLst>
                </a:gridCol>
                <a:gridCol w="1468582">
                  <a:extLst>
                    <a:ext uri="{9D8B030D-6E8A-4147-A177-3AD203B41FA5}">
                      <a16:colId xmlns:a16="http://schemas.microsoft.com/office/drawing/2014/main" val="400746082"/>
                    </a:ext>
                  </a:extLst>
                </a:gridCol>
                <a:gridCol w="3034145">
                  <a:extLst>
                    <a:ext uri="{9D8B030D-6E8A-4147-A177-3AD203B41FA5}">
                      <a16:colId xmlns:a16="http://schemas.microsoft.com/office/drawing/2014/main" val="4207406428"/>
                    </a:ext>
                  </a:extLst>
                </a:gridCol>
                <a:gridCol w="3371606">
                  <a:extLst>
                    <a:ext uri="{9D8B030D-6E8A-4147-A177-3AD203B41FA5}">
                      <a16:colId xmlns:a16="http://schemas.microsoft.com/office/drawing/2014/main" val="4166393427"/>
                    </a:ext>
                  </a:extLst>
                </a:gridCol>
              </a:tblGrid>
              <a:tr h="283497"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SG" sz="1600" b="1" i="0" u="none" strike="noStrike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backscored</a:t>
                      </a:r>
                      <a:r>
                        <a:rPr lang="en-SG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(Attrition v2.0) New users, 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290645"/>
                  </a:ext>
                </a:extLst>
              </a:tr>
              <a:tr h="49672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 Avg Time to attrition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Time to attrition for resigned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321512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low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11.8%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1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27829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14.6%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10.3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D18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254983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636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10.4%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B8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068327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9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912739"/>
                  </a:ext>
                </a:extLst>
              </a:tr>
              <a:tr h="2834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high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15.3%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109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FD18F7-08B9-7D19-6319-B769F1322700}"/>
              </a:ext>
            </a:extLst>
          </p:cNvPr>
          <p:cNvSpPr txBox="1"/>
          <p:nvPr/>
        </p:nvSpPr>
        <p:spPr>
          <a:xfrm>
            <a:off x="323289" y="6346227"/>
            <a:ext cx="854810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Attrition Model v1.0 = First version of Attrition model that went live in June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Attrition Model v2.0 = Second version of Attrition model with the Employment start date fix, which went live in January 2026</a:t>
            </a:r>
          </a:p>
        </p:txBody>
      </p:sp>
    </p:spTree>
    <p:extLst>
      <p:ext uri="{BB962C8B-B14F-4D97-AF65-F5344CB8AC3E}">
        <p14:creationId xmlns:p14="http://schemas.microsoft.com/office/powerpoint/2010/main" val="3874467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AF9B4-88C8-18DC-42C4-785D1AEC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96D11153-20F5-2CFA-D368-7EBE24FF57BE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796192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did rank order sanity checks to get a feel if our Attrition model is directionally correct or not  - for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Existing Users attrition rate monotonic, but only early </a:t>
            </a:r>
            <a:r>
              <a:rPr lang="en-SG" sz="2800">
                <a:solidFill>
                  <a:prstClr val="black"/>
                </a:solidFill>
                <a:latin typeface="Aptos Display" panose="02110004020202020204"/>
              </a:rPr>
              <a:t>resignations</a:t>
            </a:r>
            <a:endParaRPr lang="en-SG" sz="2800" b="1" i="0" u="none" strike="noStrike" kern="1200" cap="none" spc="-9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01F655-F152-D9AB-5825-EE23DA1B6FE7}"/>
              </a:ext>
            </a:extLst>
          </p:cNvPr>
          <p:cNvGraphicFramePr>
            <a:graphicFrameLocks noGrp="1"/>
          </p:cNvGraphicFramePr>
          <p:nvPr/>
        </p:nvGraphicFramePr>
        <p:xfrm>
          <a:off x="336447" y="1231874"/>
          <a:ext cx="11569557" cy="2337435"/>
        </p:xfrm>
        <a:graphic>
          <a:graphicData uri="http://schemas.openxmlformats.org/drawingml/2006/table">
            <a:tbl>
              <a:tblPr/>
              <a:tblGrid>
                <a:gridCol w="2519315">
                  <a:extLst>
                    <a:ext uri="{9D8B030D-6E8A-4147-A177-3AD203B41FA5}">
                      <a16:colId xmlns:a16="http://schemas.microsoft.com/office/drawing/2014/main" val="3304612892"/>
                    </a:ext>
                  </a:extLst>
                </a:gridCol>
                <a:gridCol w="1174545">
                  <a:extLst>
                    <a:ext uri="{9D8B030D-6E8A-4147-A177-3AD203B41FA5}">
                      <a16:colId xmlns:a16="http://schemas.microsoft.com/office/drawing/2014/main" val="1718319183"/>
                    </a:ext>
                  </a:extLst>
                </a:gridCol>
                <a:gridCol w="1497972">
                  <a:extLst>
                    <a:ext uri="{9D8B030D-6E8A-4147-A177-3AD203B41FA5}">
                      <a16:colId xmlns:a16="http://schemas.microsoft.com/office/drawing/2014/main" val="2932407975"/>
                    </a:ext>
                  </a:extLst>
                </a:gridCol>
                <a:gridCol w="3041335">
                  <a:extLst>
                    <a:ext uri="{9D8B030D-6E8A-4147-A177-3AD203B41FA5}">
                      <a16:colId xmlns:a16="http://schemas.microsoft.com/office/drawing/2014/main" val="1189579921"/>
                    </a:ext>
                  </a:extLst>
                </a:gridCol>
                <a:gridCol w="3336390">
                  <a:extLst>
                    <a:ext uri="{9D8B030D-6E8A-4147-A177-3AD203B41FA5}">
                      <a16:colId xmlns:a16="http://schemas.microsoft.com/office/drawing/2014/main" val="1514067382"/>
                    </a:ext>
                  </a:extLst>
                </a:gridCol>
              </a:tblGrid>
              <a:tr h="289313"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 (Attrition v1.0) Existing users,  prod customers 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081579"/>
                  </a:ext>
                </a:extLst>
              </a:tr>
              <a:tr h="5069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 Avg Time to attrition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Time to attrition for resigned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105012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low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8,954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8.2%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330251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5,054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8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462537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13,288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11.3%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B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971937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8,261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5.5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5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A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56659"/>
                  </a:ext>
                </a:extLst>
              </a:tr>
              <a:tr h="28931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high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29.1%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C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796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E8C9CA9-42BD-8BF3-EB9F-89FC04E47837}"/>
              </a:ext>
            </a:extLst>
          </p:cNvPr>
          <p:cNvSpPr txBox="1"/>
          <p:nvPr/>
        </p:nvSpPr>
        <p:spPr>
          <a:xfrm>
            <a:off x="10002983" y="1170737"/>
            <a:ext cx="218901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Jul 2025 snapshot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5EF8CB-B205-FF0A-2D0A-8FAA916CDC02}"/>
              </a:ext>
            </a:extLst>
          </p:cNvPr>
          <p:cNvGraphicFramePr>
            <a:graphicFrameLocks noGrp="1"/>
          </p:cNvGraphicFramePr>
          <p:nvPr/>
        </p:nvGraphicFramePr>
        <p:xfrm>
          <a:off x="336446" y="3908806"/>
          <a:ext cx="11569558" cy="2337435"/>
        </p:xfrm>
        <a:graphic>
          <a:graphicData uri="http://schemas.openxmlformats.org/drawingml/2006/table">
            <a:tbl>
              <a:tblPr/>
              <a:tblGrid>
                <a:gridCol w="2446135">
                  <a:extLst>
                    <a:ext uri="{9D8B030D-6E8A-4147-A177-3AD203B41FA5}">
                      <a16:colId xmlns:a16="http://schemas.microsoft.com/office/drawing/2014/main" val="1980354021"/>
                    </a:ext>
                  </a:extLst>
                </a:gridCol>
                <a:gridCol w="1249092">
                  <a:extLst>
                    <a:ext uri="{9D8B030D-6E8A-4147-A177-3AD203B41FA5}">
                      <a16:colId xmlns:a16="http://schemas.microsoft.com/office/drawing/2014/main" val="2734361357"/>
                    </a:ext>
                  </a:extLst>
                </a:gridCol>
                <a:gridCol w="1482436">
                  <a:extLst>
                    <a:ext uri="{9D8B030D-6E8A-4147-A177-3AD203B41FA5}">
                      <a16:colId xmlns:a16="http://schemas.microsoft.com/office/drawing/2014/main" val="2063859830"/>
                    </a:ext>
                  </a:extLst>
                </a:gridCol>
                <a:gridCol w="3168947">
                  <a:extLst>
                    <a:ext uri="{9D8B030D-6E8A-4147-A177-3AD203B41FA5}">
                      <a16:colId xmlns:a16="http://schemas.microsoft.com/office/drawing/2014/main" val="2499791800"/>
                    </a:ext>
                  </a:extLst>
                </a:gridCol>
                <a:gridCol w="3222948">
                  <a:extLst>
                    <a:ext uri="{9D8B030D-6E8A-4147-A177-3AD203B41FA5}">
                      <a16:colId xmlns:a16="http://schemas.microsoft.com/office/drawing/2014/main" val="2812363195"/>
                    </a:ext>
                  </a:extLst>
                </a:gridCol>
              </a:tblGrid>
              <a:tr h="260124"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SG" sz="1600" b="1" i="0" u="none" strike="noStrike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backscored</a:t>
                      </a:r>
                      <a:r>
                        <a:rPr lang="en-SG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(Attrition v2.0) Existing users,  prod customers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5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14429"/>
                  </a:ext>
                </a:extLst>
              </a:tr>
              <a:tr h="4557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groups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Attrition rate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Expected Avg Time to attrition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Time to attrition for resigned (in months)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242789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low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9,100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7.3%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5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682472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5,040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7.3%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8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40036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13,021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9.5%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B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5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145944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7,732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14.2%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7C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5.5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59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009044"/>
                  </a:ext>
                </a:extLst>
              </a:tr>
              <a:tr h="26012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high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26.2%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80693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AAB2BD6-34D8-4494-7CF2-0698BB8CB33A}"/>
              </a:ext>
            </a:extLst>
          </p:cNvPr>
          <p:cNvSpPr txBox="1"/>
          <p:nvPr/>
        </p:nvSpPr>
        <p:spPr>
          <a:xfrm>
            <a:off x="323289" y="6346227"/>
            <a:ext cx="8548106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Attrition Model v1.0 = First version of Attrition model that went live in June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Attrition Model v2.0 = Second version of Attrition model with the Employment start date fix, which went live in January 2026</a:t>
            </a:r>
          </a:p>
        </p:txBody>
      </p:sp>
    </p:spTree>
    <p:extLst>
      <p:ext uri="{BB962C8B-B14F-4D97-AF65-F5344CB8AC3E}">
        <p14:creationId xmlns:p14="http://schemas.microsoft.com/office/powerpoint/2010/main" val="117451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6B0C-FDD2-D8FB-636E-F3805F353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3D8AC2B-4676-C140-8C49-B3E10DBA5181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796192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also compared month-over-month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Unit Bad Rate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comparison from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New Customers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who were onboarded by Scorecard 1.0 vs Scorecard 2.0</a:t>
            </a:r>
            <a:endParaRPr kumimoji="0" lang="en-SG" sz="2800" b="1" i="0" u="none" strike="noStrike" kern="1200" cap="none" spc="-9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991320-E15F-1BB6-A433-BDE2295CCE0F}"/>
              </a:ext>
            </a:extLst>
          </p:cNvPr>
          <p:cNvGraphicFramePr>
            <a:graphicFrameLocks noGrp="1"/>
          </p:cNvGraphicFramePr>
          <p:nvPr/>
        </p:nvGraphicFramePr>
        <p:xfrm>
          <a:off x="320167" y="4283848"/>
          <a:ext cx="11534535" cy="2215632"/>
        </p:xfrm>
        <a:graphic>
          <a:graphicData uri="http://schemas.openxmlformats.org/drawingml/2006/table">
            <a:tbl>
              <a:tblPr/>
              <a:tblGrid>
                <a:gridCol w="1077684">
                  <a:extLst>
                    <a:ext uri="{9D8B030D-6E8A-4147-A177-3AD203B41FA5}">
                      <a16:colId xmlns:a16="http://schemas.microsoft.com/office/drawing/2014/main" val="1094627951"/>
                    </a:ext>
                  </a:extLst>
                </a:gridCol>
                <a:gridCol w="1861457">
                  <a:extLst>
                    <a:ext uri="{9D8B030D-6E8A-4147-A177-3AD203B41FA5}">
                      <a16:colId xmlns:a16="http://schemas.microsoft.com/office/drawing/2014/main" val="391764085"/>
                    </a:ext>
                  </a:extLst>
                </a:gridCol>
                <a:gridCol w="2277834">
                  <a:extLst>
                    <a:ext uri="{9D8B030D-6E8A-4147-A177-3AD203B41FA5}">
                      <a16:colId xmlns:a16="http://schemas.microsoft.com/office/drawing/2014/main" val="1915037620"/>
                    </a:ext>
                  </a:extLst>
                </a:gridCol>
                <a:gridCol w="1987657">
                  <a:extLst>
                    <a:ext uri="{9D8B030D-6E8A-4147-A177-3AD203B41FA5}">
                      <a16:colId xmlns:a16="http://schemas.microsoft.com/office/drawing/2014/main" val="1376342491"/>
                    </a:ext>
                  </a:extLst>
                </a:gridCol>
                <a:gridCol w="2069022">
                  <a:extLst>
                    <a:ext uri="{9D8B030D-6E8A-4147-A177-3AD203B41FA5}">
                      <a16:colId xmlns:a16="http://schemas.microsoft.com/office/drawing/2014/main" val="2143874066"/>
                    </a:ext>
                  </a:extLst>
                </a:gridCol>
                <a:gridCol w="2260881">
                  <a:extLst>
                    <a:ext uri="{9D8B030D-6E8A-4147-A177-3AD203B41FA5}">
                      <a16:colId xmlns:a16="http://schemas.microsoft.com/office/drawing/2014/main" val="1597796762"/>
                    </a:ext>
                  </a:extLst>
                </a:gridCol>
              </a:tblGrid>
              <a:tr h="251466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Onboarding_month</a:t>
                      </a:r>
                    </a:p>
                  </a:txBody>
                  <a:tcPr marL="9322" marR="9322" marT="9322" marB="44747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cnt_onboarded_with_SC2</a:t>
                      </a:r>
                      <a:endParaRPr lang="en-SG" sz="13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22" marR="9322" marT="9322" marB="4474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cnt_</a:t>
                      </a:r>
                      <a:r>
                        <a:rPr lang="en-SG" sz="1300" b="1" i="0" u="none" strike="noStrike" kern="1200">
                          <a:solidFill>
                            <a:schemeClr val="bg1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left</a:t>
                      </a:r>
                      <a:r>
                        <a:rPr lang="en-SG" sz="13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_job_within_Jan_2026</a:t>
                      </a:r>
                    </a:p>
                  </a:txBody>
                  <a:tcPr marL="9322" marR="9322" marT="9322" marB="4474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cnt_had_oop_outstanding</a:t>
                      </a:r>
                    </a:p>
                  </a:txBody>
                  <a:tcPr marL="9322" marR="9322" marT="9322" marB="4474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cnt_oop_flag_bad_fpd30</a:t>
                      </a:r>
                    </a:p>
                  </a:txBody>
                  <a:tcPr marL="9322" marR="9322" marT="9322" marB="44747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unit_rate_of_all_who_left_job</a:t>
                      </a:r>
                      <a:endParaRPr lang="en-SG" sz="1300" b="1" i="0" u="none" strike="noStrike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322" marR="9322" marT="9322" marB="44747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648676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2025-06</a:t>
                      </a:r>
                    </a:p>
                  </a:txBody>
                  <a:tcPr marL="9322" marR="9322" marT="9322" marB="447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27.3%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167506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2025-07</a:t>
                      </a:r>
                    </a:p>
                  </a:txBody>
                  <a:tcPr marL="9322" marR="9322" marT="9322" marB="447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1128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81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77.3%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602560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2025-08</a:t>
                      </a:r>
                    </a:p>
                  </a:txBody>
                  <a:tcPr marL="9322" marR="9322" marT="9322" marB="447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863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46.9%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02276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2025-09</a:t>
                      </a:r>
                    </a:p>
                  </a:txBody>
                  <a:tcPr marL="9322" marR="9322" marT="9322" marB="447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921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58.2%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86130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2025-10</a:t>
                      </a:r>
                    </a:p>
                  </a:txBody>
                  <a:tcPr marL="9322" marR="9322" marT="9322" marB="447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575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20.0%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026522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2025-11</a:t>
                      </a:r>
                    </a:p>
                  </a:txBody>
                  <a:tcPr marL="9322" marR="9322" marT="9322" marB="447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951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013568"/>
                  </a:ext>
                </a:extLst>
              </a:tr>
              <a:tr h="2514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2025-12</a:t>
                      </a:r>
                    </a:p>
                  </a:txBody>
                  <a:tcPr marL="9322" marR="9322" marT="9322" marB="447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1078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9322" marR="9322" marT="9322" marB="44747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301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BC94D2-4A7C-9DEF-CEB6-F9573ED4C048}"/>
              </a:ext>
            </a:extLst>
          </p:cNvPr>
          <p:cNvGraphicFramePr>
            <a:graphicFrameLocks noGrp="1"/>
          </p:cNvGraphicFramePr>
          <p:nvPr/>
        </p:nvGraphicFramePr>
        <p:xfrm>
          <a:off x="320167" y="1427949"/>
          <a:ext cx="11497412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2225">
                  <a:extLst>
                    <a:ext uri="{9D8B030D-6E8A-4147-A177-3AD203B41FA5}">
                      <a16:colId xmlns:a16="http://schemas.microsoft.com/office/drawing/2014/main" val="221956188"/>
                    </a:ext>
                  </a:extLst>
                </a:gridCol>
                <a:gridCol w="1887771">
                  <a:extLst>
                    <a:ext uri="{9D8B030D-6E8A-4147-A177-3AD203B41FA5}">
                      <a16:colId xmlns:a16="http://schemas.microsoft.com/office/drawing/2014/main" val="2090061161"/>
                    </a:ext>
                  </a:extLst>
                </a:gridCol>
                <a:gridCol w="2270167">
                  <a:extLst>
                    <a:ext uri="{9D8B030D-6E8A-4147-A177-3AD203B41FA5}">
                      <a16:colId xmlns:a16="http://schemas.microsoft.com/office/drawing/2014/main" val="583123118"/>
                    </a:ext>
                  </a:extLst>
                </a:gridCol>
                <a:gridCol w="1964410">
                  <a:extLst>
                    <a:ext uri="{9D8B030D-6E8A-4147-A177-3AD203B41FA5}">
                      <a16:colId xmlns:a16="http://schemas.microsoft.com/office/drawing/2014/main" val="4248297310"/>
                    </a:ext>
                  </a:extLst>
                </a:gridCol>
                <a:gridCol w="2034150">
                  <a:extLst>
                    <a:ext uri="{9D8B030D-6E8A-4147-A177-3AD203B41FA5}">
                      <a16:colId xmlns:a16="http://schemas.microsoft.com/office/drawing/2014/main" val="3532273152"/>
                    </a:ext>
                  </a:extLst>
                </a:gridCol>
                <a:gridCol w="2298689">
                  <a:extLst>
                    <a:ext uri="{9D8B030D-6E8A-4147-A177-3AD203B41FA5}">
                      <a16:colId xmlns:a16="http://schemas.microsoft.com/office/drawing/2014/main" val="47473645"/>
                    </a:ext>
                  </a:extLst>
                </a:gridCol>
              </a:tblGrid>
              <a:tr h="43298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Aptos Narrow"/>
                        </a:rPr>
                        <a:t>onboarding_month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>
                          <a:effectLst/>
                          <a:latin typeface="Aptos Narrow"/>
                        </a:rPr>
                        <a:t>cnt_onboarded_with_SC1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>
                          <a:effectLst/>
                          <a:latin typeface="Aptos Narrow"/>
                        </a:rPr>
                        <a:t>cnt_left_job_within_jan_2026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Aptos Narrow"/>
                        </a:rPr>
                        <a:t>cnt_had_oop_outstanding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Aptos Narrow"/>
                        </a:rPr>
                        <a:t>cnt_oop_flag_bad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Aptos Narrow"/>
                        </a:rPr>
                        <a:t>unit_rate_of_all_who_left_job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527871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2025-06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5302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360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360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215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59.72%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989834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2025-07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4567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272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272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168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61.76%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15503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2025-08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4039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161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161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94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58.39%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255821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2025-09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8610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221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221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122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55.20%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728861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2025-10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12346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166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168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59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35.12%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498349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2025-11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7892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53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53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3.77%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520206"/>
                  </a:ext>
                </a:extLst>
              </a:tr>
              <a:tr h="2457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2025-12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8592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24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0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Aptos Narrow"/>
                        </a:rPr>
                        <a:t>0.00%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4845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1D61CA-C397-79E0-9A9D-CE1F4BBEE2BF}"/>
              </a:ext>
            </a:extLst>
          </p:cNvPr>
          <p:cNvSpPr txBox="1"/>
          <p:nvPr/>
        </p:nvSpPr>
        <p:spPr>
          <a:xfrm>
            <a:off x="295490" y="1055478"/>
            <a:ext cx="5128157" cy="369332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who onboarded with Scorecard 1.0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30540-48FB-2225-F842-04CB192FDCB0}"/>
              </a:ext>
            </a:extLst>
          </p:cNvPr>
          <p:cNvSpPr txBox="1"/>
          <p:nvPr/>
        </p:nvSpPr>
        <p:spPr>
          <a:xfrm>
            <a:off x="308296" y="3911376"/>
            <a:ext cx="5108946" cy="369332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who onboarded with Scorecard 2.0</a:t>
            </a:r>
          </a:p>
        </p:txBody>
      </p:sp>
    </p:spTree>
    <p:extLst>
      <p:ext uri="{BB962C8B-B14F-4D97-AF65-F5344CB8AC3E}">
        <p14:creationId xmlns:p14="http://schemas.microsoft.com/office/powerpoint/2010/main" val="324340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9978-3EEF-C0B8-AA80-5C4C46D50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4350C56-3A74-F61F-6148-C75CE976F012}"/>
              </a:ext>
            </a:extLst>
          </p:cNvPr>
          <p:cNvSpPr>
            <a:spLocks noGrp="1"/>
          </p:cNvSpPr>
          <p:nvPr/>
        </p:nvSpPr>
        <p:spPr>
          <a:xfrm>
            <a:off x="271117" y="-1557"/>
            <a:ext cx="11796192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We also compared month-over-month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Peso Bad Rate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comparison from 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New Customers</a:t>
            </a: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who were onboarded by Scorecard 1.0 vs Scorecard 2.0</a:t>
            </a:r>
            <a:endParaRPr kumimoji="0" lang="en-SG" sz="2800" b="1" i="0" u="none" strike="noStrike" kern="1200" cap="none" spc="-9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5AD8AE-7564-004D-D704-AD637C0EB41A}"/>
              </a:ext>
            </a:extLst>
          </p:cNvPr>
          <p:cNvGraphicFramePr>
            <a:graphicFrameLocks noGrp="1"/>
          </p:cNvGraphicFramePr>
          <p:nvPr/>
        </p:nvGraphicFramePr>
        <p:xfrm>
          <a:off x="322595" y="4397038"/>
          <a:ext cx="11546803" cy="2132928"/>
        </p:xfrm>
        <a:graphic>
          <a:graphicData uri="http://schemas.openxmlformats.org/drawingml/2006/table">
            <a:tbl>
              <a:tblPr/>
              <a:tblGrid>
                <a:gridCol w="979732">
                  <a:extLst>
                    <a:ext uri="{9D8B030D-6E8A-4147-A177-3AD203B41FA5}">
                      <a16:colId xmlns:a16="http://schemas.microsoft.com/office/drawing/2014/main" val="358670877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048959413"/>
                    </a:ext>
                  </a:extLst>
                </a:gridCol>
                <a:gridCol w="2045153">
                  <a:extLst>
                    <a:ext uri="{9D8B030D-6E8A-4147-A177-3AD203B41FA5}">
                      <a16:colId xmlns:a16="http://schemas.microsoft.com/office/drawing/2014/main" val="1805691401"/>
                    </a:ext>
                  </a:extLst>
                </a:gridCol>
                <a:gridCol w="2596241">
                  <a:extLst>
                    <a:ext uri="{9D8B030D-6E8A-4147-A177-3AD203B41FA5}">
                      <a16:colId xmlns:a16="http://schemas.microsoft.com/office/drawing/2014/main" val="2000493968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397865903"/>
                    </a:ext>
                  </a:extLst>
                </a:gridCol>
                <a:gridCol w="1629902">
                  <a:extLst>
                    <a:ext uri="{9D8B030D-6E8A-4147-A177-3AD203B41FA5}">
                      <a16:colId xmlns:a16="http://schemas.microsoft.com/office/drawing/2014/main" val="2960901779"/>
                    </a:ext>
                  </a:extLst>
                </a:gridCol>
              </a:tblGrid>
              <a:tr h="241767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Onboarding_month</a:t>
                      </a:r>
                      <a:endParaRPr lang="en-SG" sz="13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tot_cl_amt_onboarded_with_sc2</a:t>
                      </a: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tot_os_principal_amt_as_of_resignation_dt</a:t>
                      </a: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tot_os_principal_amt_as_of_oop_eligible_dt</a:t>
                      </a: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tot_os_principal_amt_from_bad_customers</a:t>
                      </a: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SG" sz="1300" b="1" i="0" u="none" strike="noStrike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Outstanding_bad_rate</a:t>
                      </a:r>
                      <a:endParaRPr lang="en-SG" sz="13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0" marR="7540" marT="7540" marB="36191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85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91999"/>
                  </a:ext>
                </a:extLst>
              </a:tr>
              <a:tr h="2417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2025-06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258,040.00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157,428.02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137,882.65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48,044.97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30.5%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908484"/>
                  </a:ext>
                </a:extLst>
              </a:tr>
              <a:tr h="2417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2025-07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2,155,121.50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613,894.66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572,571.30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410,308.59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66.8%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42683"/>
                  </a:ext>
                </a:extLst>
              </a:tr>
              <a:tr h="2417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2025-08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829,277.00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244,732.54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236,988.55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173,890.28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71.1%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57783"/>
                  </a:ext>
                </a:extLst>
              </a:tr>
              <a:tr h="2417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2025-09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1,088,727.00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409,056.50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391,863.71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273,221.86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66.8%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895467"/>
                  </a:ext>
                </a:extLst>
              </a:tr>
              <a:tr h="2417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2025-10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311,806.00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65,428.95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65,758.36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39,842.05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60.9%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17568"/>
                  </a:ext>
                </a:extLst>
              </a:tr>
              <a:tr h="2417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2025-11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212,136.00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23,898.56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14,525.93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875925"/>
                  </a:ext>
                </a:extLst>
              </a:tr>
              <a:tr h="2417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2025-12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24,643.00 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7540" marR="7540" marT="7540" marB="3619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39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2704D4-2F1F-1260-52B6-74BD11C46C22}"/>
              </a:ext>
            </a:extLst>
          </p:cNvPr>
          <p:cNvGraphicFramePr>
            <a:graphicFrameLocks noGrp="1"/>
          </p:cNvGraphicFramePr>
          <p:nvPr/>
        </p:nvGraphicFramePr>
        <p:xfrm>
          <a:off x="320168" y="1478149"/>
          <a:ext cx="11521915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44449">
                  <a:extLst>
                    <a:ext uri="{9D8B030D-6E8A-4147-A177-3AD203B41FA5}">
                      <a16:colId xmlns:a16="http://schemas.microsoft.com/office/drawing/2014/main" val="690660560"/>
                    </a:ext>
                  </a:extLst>
                </a:gridCol>
                <a:gridCol w="1873703">
                  <a:extLst>
                    <a:ext uri="{9D8B030D-6E8A-4147-A177-3AD203B41FA5}">
                      <a16:colId xmlns:a16="http://schemas.microsoft.com/office/drawing/2014/main" val="3326841909"/>
                    </a:ext>
                  </a:extLst>
                </a:gridCol>
                <a:gridCol w="2045153">
                  <a:extLst>
                    <a:ext uri="{9D8B030D-6E8A-4147-A177-3AD203B41FA5}">
                      <a16:colId xmlns:a16="http://schemas.microsoft.com/office/drawing/2014/main" val="3643423258"/>
                    </a:ext>
                  </a:extLst>
                </a:gridCol>
                <a:gridCol w="2589705">
                  <a:extLst>
                    <a:ext uri="{9D8B030D-6E8A-4147-A177-3AD203B41FA5}">
                      <a16:colId xmlns:a16="http://schemas.microsoft.com/office/drawing/2014/main" val="3922206027"/>
                    </a:ext>
                  </a:extLst>
                </a:gridCol>
                <a:gridCol w="2330770">
                  <a:extLst>
                    <a:ext uri="{9D8B030D-6E8A-4147-A177-3AD203B41FA5}">
                      <a16:colId xmlns:a16="http://schemas.microsoft.com/office/drawing/2014/main" val="3373208269"/>
                    </a:ext>
                  </a:extLst>
                </a:gridCol>
                <a:gridCol w="1638135">
                  <a:extLst>
                    <a:ext uri="{9D8B030D-6E8A-4147-A177-3AD203B41FA5}">
                      <a16:colId xmlns:a16="http://schemas.microsoft.com/office/drawing/2014/main" val="415410811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onboarding_month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>
                          <a:effectLst/>
                          <a:latin typeface="Calibri"/>
                        </a:rPr>
                        <a:t>tot_cl_amt_onboarded_with_1_0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tot_os_principal_amt_as_of_resignation_date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tot_os_principal_amt_as_of_oop_eligible_dt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tot_os_principal_amt_from_bad_customers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 b="1" err="1">
                          <a:effectLst/>
                          <a:latin typeface="Calibri"/>
                        </a:rPr>
                        <a:t>peso_rate_of_all_who_left_job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437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2025-06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11,069,668.00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4,228,593.09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3,378,686.80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2,355,614.44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55.71%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6699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2025-07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9,112,738.00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2,867,003.81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2,285,462.94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1,688,815.98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58.91%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9852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2025-08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5,515,596.50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1,771,953.32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1,518,980.16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1,167,141.02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65.87%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6593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2025-09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6,314,023.00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2,869,521.15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2,702,950.09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1,880,758.63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65.54%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3360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2025-10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4,494,172.00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1,738,011.34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1,856,858.89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790,988.55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45.51%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086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2025-11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1,614,025.50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418,429.94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423,173.47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8,435.25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2.02%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3912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2025-12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789,807.50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63,454.90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GB" sz="1300">
                        <a:effectLst/>
                        <a:latin typeface="Calibri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300">
                          <a:effectLst/>
                          <a:latin typeface="Calibri"/>
                        </a:rPr>
                        <a:t>0.00%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1803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D1D155-F33B-BE7D-BD50-AA186E2A567A}"/>
              </a:ext>
            </a:extLst>
          </p:cNvPr>
          <p:cNvSpPr txBox="1"/>
          <p:nvPr/>
        </p:nvSpPr>
        <p:spPr>
          <a:xfrm>
            <a:off x="295490" y="1093898"/>
            <a:ext cx="5070526" cy="369332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who onboarded with Scorecard 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A8BDD-DA78-CD94-DB2F-2A2A5BDF8BB3}"/>
              </a:ext>
            </a:extLst>
          </p:cNvPr>
          <p:cNvSpPr txBox="1"/>
          <p:nvPr/>
        </p:nvSpPr>
        <p:spPr>
          <a:xfrm>
            <a:off x="308296" y="4013830"/>
            <a:ext cx="5057719" cy="369332"/>
          </a:xfrm>
          <a:prstGeom prst="rect">
            <a:avLst/>
          </a:prstGeom>
          <a:solidFill>
            <a:schemeClr val="tx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who onboarded with Scorecard 2.0</a:t>
            </a:r>
          </a:p>
        </p:txBody>
      </p:sp>
    </p:spTree>
    <p:extLst>
      <p:ext uri="{BB962C8B-B14F-4D97-AF65-F5344CB8AC3E}">
        <p14:creationId xmlns:p14="http://schemas.microsoft.com/office/powerpoint/2010/main" val="1133275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798B-82C3-661F-06DB-7C329EDB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370A4E6-F93C-7DB6-07D6-0E3487E7566B}"/>
              </a:ext>
            </a:extLst>
          </p:cNvPr>
          <p:cNvSpPr>
            <a:spLocks noGrp="1"/>
          </p:cNvSpPr>
          <p:nvPr/>
        </p:nvSpPr>
        <p:spPr>
          <a:xfrm>
            <a:off x="187168" y="-1557"/>
            <a:ext cx="11996378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Incremental Portfolio Exposure contributed by Credit Limit Expansion (CL+) program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5EAC75-3A8A-638E-1F93-4754DC202922}"/>
              </a:ext>
            </a:extLst>
          </p:cNvPr>
          <p:cNvGraphicFramePr>
            <a:graphicFrameLocks noGrp="1"/>
          </p:cNvGraphicFramePr>
          <p:nvPr/>
        </p:nvGraphicFramePr>
        <p:xfrm>
          <a:off x="303508" y="761999"/>
          <a:ext cx="11501058" cy="79037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01058">
                  <a:extLst>
                    <a:ext uri="{9D8B030D-6E8A-4147-A177-3AD203B41FA5}">
                      <a16:colId xmlns:a16="http://schemas.microsoft.com/office/drawing/2014/main" val="2281628252"/>
                    </a:ext>
                  </a:extLst>
                </a:gridCol>
              </a:tblGrid>
              <a:tr h="790371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solidFill>
                            <a:srgbClr val="242424"/>
                          </a:solidFill>
                          <a:effectLst/>
                          <a:latin typeface="Aptos Narrow"/>
                        </a:rPr>
                        <a:t>Calculated the delta Credit Limit before and after the CL+ start date at Employee level, irrespective of whether the employee is on SC1.0 or SC2.0. Took only the Existing tendo users for this who were already onboarded before the CL+ launch date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915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DD0F2C-3485-3665-42F8-2AC76C9B61EE}"/>
              </a:ext>
            </a:extLst>
          </p:cNvPr>
          <p:cNvGraphicFramePr>
            <a:graphicFrameLocks noGrp="1"/>
          </p:cNvGraphicFramePr>
          <p:nvPr/>
        </p:nvGraphicFramePr>
        <p:xfrm>
          <a:off x="390605" y="1985042"/>
          <a:ext cx="11345106" cy="28828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63484">
                  <a:extLst>
                    <a:ext uri="{9D8B030D-6E8A-4147-A177-3AD203B41FA5}">
                      <a16:colId xmlns:a16="http://schemas.microsoft.com/office/drawing/2014/main" val="1115926286"/>
                    </a:ext>
                  </a:extLst>
                </a:gridCol>
                <a:gridCol w="2106385">
                  <a:extLst>
                    <a:ext uri="{9D8B030D-6E8A-4147-A177-3AD203B41FA5}">
                      <a16:colId xmlns:a16="http://schemas.microsoft.com/office/drawing/2014/main" val="3406497131"/>
                    </a:ext>
                  </a:extLst>
                </a:gridCol>
                <a:gridCol w="2363560">
                  <a:extLst>
                    <a:ext uri="{9D8B030D-6E8A-4147-A177-3AD203B41FA5}">
                      <a16:colId xmlns:a16="http://schemas.microsoft.com/office/drawing/2014/main" val="2524053237"/>
                    </a:ext>
                  </a:extLst>
                </a:gridCol>
                <a:gridCol w="1983921">
                  <a:extLst>
                    <a:ext uri="{9D8B030D-6E8A-4147-A177-3AD203B41FA5}">
                      <a16:colId xmlns:a16="http://schemas.microsoft.com/office/drawing/2014/main" val="3241698955"/>
                    </a:ext>
                  </a:extLst>
                </a:gridCol>
                <a:gridCol w="1783737">
                  <a:extLst>
                    <a:ext uri="{9D8B030D-6E8A-4147-A177-3AD203B41FA5}">
                      <a16:colId xmlns:a16="http://schemas.microsoft.com/office/drawing/2014/main" val="2956010172"/>
                    </a:ext>
                  </a:extLst>
                </a:gridCol>
                <a:gridCol w="1344019">
                  <a:extLst>
                    <a:ext uri="{9D8B030D-6E8A-4147-A177-3AD203B41FA5}">
                      <a16:colId xmlns:a16="http://schemas.microsoft.com/office/drawing/2014/main" val="4037758943"/>
                    </a:ext>
                  </a:extLst>
                </a:gridCol>
              </a:tblGrid>
              <a:tr h="57657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Row Labels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Count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user_id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Sum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old_cl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Sum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new_cl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CL Delta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% CL increase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610661"/>
                  </a:ext>
                </a:extLst>
              </a:tr>
              <a:tr h="57657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CL Decreased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5682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₱202,976,538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₱152,947,797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-₱50,028,741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-24.6%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079086"/>
                  </a:ext>
                </a:extLst>
              </a:tr>
              <a:tr h="57657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CL Increased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54093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₱1,150,264,787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₱2,965,400,575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₱1,815,135,788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157.8%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085360"/>
                  </a:ext>
                </a:extLst>
              </a:tr>
              <a:tr h="57657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No CL Increase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12027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₱524,414,396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₱561,411,692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₱-  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0.0%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549143"/>
                  </a:ext>
                </a:extLst>
              </a:tr>
              <a:tr h="576574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Grand Total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71802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₱1,877,655,721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 ₱3,679,760,064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 ₱1,765,107,047 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94.0%</a:t>
                      </a:r>
                    </a:p>
                  </a:txBody>
                  <a:tcPr marL="9525" marR="9525" marT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90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22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41846-CC04-325F-2328-AB875DC5E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565B3F7-C8C0-B997-A344-4BBEF436F16F}"/>
              </a:ext>
            </a:extLst>
          </p:cNvPr>
          <p:cNvSpPr>
            <a:spLocks noGrp="1"/>
          </p:cNvSpPr>
          <p:nvPr/>
        </p:nvSpPr>
        <p:spPr>
          <a:xfrm>
            <a:off x="187168" y="-1557"/>
            <a:ext cx="11996378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Incremental Portfolio Exposure contributed by New Borrowers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8F7EF6-8783-3B8C-1925-FCBCC2C48829}"/>
              </a:ext>
            </a:extLst>
          </p:cNvPr>
          <p:cNvGraphicFramePr>
            <a:graphicFrameLocks noGrp="1"/>
          </p:cNvGraphicFramePr>
          <p:nvPr/>
        </p:nvGraphicFramePr>
        <p:xfrm>
          <a:off x="303508" y="761999"/>
          <a:ext cx="11501058" cy="79037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01058">
                  <a:extLst>
                    <a:ext uri="{9D8B030D-6E8A-4147-A177-3AD203B41FA5}">
                      <a16:colId xmlns:a16="http://schemas.microsoft.com/office/drawing/2014/main" val="2281628252"/>
                    </a:ext>
                  </a:extLst>
                </a:gridCol>
              </a:tblGrid>
              <a:tr h="7903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242424"/>
                          </a:solidFill>
                          <a:effectLst/>
                        </a:rPr>
                        <a:t>Sum of credit limits as per onboarding from all the users who onboarded within Q4 2025 (this is regardless of CL+)</a:t>
                      </a:r>
                      <a:endParaRPr lang="en-US"/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915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FB0A37-E568-22F9-6AC0-AABA3B35EFFA}"/>
              </a:ext>
            </a:extLst>
          </p:cNvPr>
          <p:cNvGraphicFramePr>
            <a:graphicFrameLocks noGrp="1"/>
          </p:cNvGraphicFramePr>
          <p:nvPr/>
        </p:nvGraphicFramePr>
        <p:xfrm>
          <a:off x="1629798" y="1439663"/>
          <a:ext cx="8327738" cy="2636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61653">
                  <a:extLst>
                    <a:ext uri="{9D8B030D-6E8A-4147-A177-3AD203B41FA5}">
                      <a16:colId xmlns:a16="http://schemas.microsoft.com/office/drawing/2014/main" val="430776168"/>
                    </a:ext>
                  </a:extLst>
                </a:gridCol>
                <a:gridCol w="2708328">
                  <a:extLst>
                    <a:ext uri="{9D8B030D-6E8A-4147-A177-3AD203B41FA5}">
                      <a16:colId xmlns:a16="http://schemas.microsoft.com/office/drawing/2014/main" val="1893367226"/>
                    </a:ext>
                  </a:extLst>
                </a:gridCol>
                <a:gridCol w="2457757">
                  <a:extLst>
                    <a:ext uri="{9D8B030D-6E8A-4147-A177-3AD203B41FA5}">
                      <a16:colId xmlns:a16="http://schemas.microsoft.com/office/drawing/2014/main" val="30025513"/>
                    </a:ext>
                  </a:extLst>
                </a:gridCol>
              </a:tblGrid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 err="1">
                          <a:effectLst/>
                          <a:latin typeface="Aptos Narrow"/>
                        </a:rPr>
                        <a:t>User_type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Count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user_id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Sum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new_cl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442606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2026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13,887 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₱13,717,008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27875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before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126,965 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₱208,350,949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549852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Q1 2025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19,567 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₱36,909,724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616147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Q2 2025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47,997 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₱33,489,651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06485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Q3 2025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36,617 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₱266,837,959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54435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Onboarded Q4 2025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48,732 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₱197,716,420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676431"/>
                  </a:ext>
                </a:extLst>
              </a:tr>
              <a:tr h="262076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Grand Total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293,765 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 ₱757,021,711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34443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B67201-0EEF-4FF7-7A6E-304DF2FA90F3}"/>
              </a:ext>
            </a:extLst>
          </p:cNvPr>
          <p:cNvGraphicFramePr>
            <a:graphicFrameLocks noGrp="1"/>
          </p:cNvGraphicFramePr>
          <p:nvPr/>
        </p:nvGraphicFramePr>
        <p:xfrm>
          <a:off x="1640237" y="4391186"/>
          <a:ext cx="8339357" cy="20928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7654">
                  <a:extLst>
                    <a:ext uri="{9D8B030D-6E8A-4147-A177-3AD203B41FA5}">
                      <a16:colId xmlns:a16="http://schemas.microsoft.com/office/drawing/2014/main" val="280759208"/>
                    </a:ext>
                  </a:extLst>
                </a:gridCol>
                <a:gridCol w="2953880">
                  <a:extLst>
                    <a:ext uri="{9D8B030D-6E8A-4147-A177-3AD203B41FA5}">
                      <a16:colId xmlns:a16="http://schemas.microsoft.com/office/drawing/2014/main" val="1671226851"/>
                    </a:ext>
                  </a:extLst>
                </a:gridCol>
                <a:gridCol w="2337823">
                  <a:extLst>
                    <a:ext uri="{9D8B030D-6E8A-4147-A177-3AD203B41FA5}">
                      <a16:colId xmlns:a16="http://schemas.microsoft.com/office/drawing/2014/main" val="3479340278"/>
                    </a:ext>
                  </a:extLst>
                </a:gridCol>
              </a:tblGrid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 err="1">
                          <a:effectLst/>
                          <a:latin typeface="Aptos Narrow"/>
                        </a:rPr>
                        <a:t>User_type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Count of </a:t>
                      </a:r>
                      <a:r>
                        <a:rPr lang="en-GB" sz="1800" b="1" err="1">
                          <a:effectLst/>
                          <a:latin typeface="Aptos Narrow"/>
                        </a:rPr>
                        <a:t>user_id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Percentage of users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426016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err="1">
                          <a:effectLst/>
                          <a:latin typeface="Aptos Narrow"/>
                        </a:rPr>
                        <a:t>new_user_w_cl</a:t>
                      </a:r>
                      <a:r>
                        <a:rPr lang="en-GB" sz="1800">
                          <a:effectLst/>
                          <a:latin typeface="Aptos Narrow"/>
                        </a:rPr>
                        <a:t>+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6,205 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2.1%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95099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err="1">
                          <a:effectLst/>
                          <a:latin typeface="Aptos Narrow"/>
                        </a:rPr>
                        <a:t>new_user_w_no_cl</a:t>
                      </a:r>
                      <a:r>
                        <a:rPr lang="en-GB" sz="1800">
                          <a:effectLst/>
                          <a:latin typeface="Aptos Narrow"/>
                        </a:rPr>
                        <a:t>+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56,414 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19.2%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057733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err="1">
                          <a:effectLst/>
                          <a:latin typeface="Aptos Narrow"/>
                        </a:rPr>
                        <a:t>old_user_w_cl</a:t>
                      </a:r>
                      <a:r>
                        <a:rPr lang="en-GB" sz="1800">
                          <a:effectLst/>
                          <a:latin typeface="Aptos Narrow"/>
                        </a:rPr>
                        <a:t>+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10,904 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3.7%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65523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err="1">
                          <a:effectLst/>
                          <a:latin typeface="Aptos Narrow"/>
                        </a:rPr>
                        <a:t>old_user_w_no_cl</a:t>
                      </a:r>
                      <a:r>
                        <a:rPr lang="en-GB" sz="1800">
                          <a:effectLst/>
                          <a:latin typeface="Aptos Narrow"/>
                        </a:rPr>
                        <a:t>+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220,242 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75.0%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55454"/>
                  </a:ext>
                </a:extLst>
              </a:tr>
              <a:tr h="34881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Grand Total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effectLst/>
                          <a:latin typeface="Aptos Narrow"/>
                        </a:rPr>
                        <a:t>293,765 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100.0%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528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881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4E74A-3D32-182E-1578-E881E826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BD7C5D0-A704-2D10-D742-96F4D5EBCE77}"/>
              </a:ext>
            </a:extLst>
          </p:cNvPr>
          <p:cNvSpPr>
            <a:spLocks noGrp="1"/>
          </p:cNvSpPr>
          <p:nvPr/>
        </p:nvSpPr>
        <p:spPr>
          <a:xfrm>
            <a:off x="187168" y="-1557"/>
            <a:ext cx="11996378" cy="925901"/>
          </a:xfrm>
          <a:prstGeom prst="rect">
            <a:avLst/>
          </a:prstGeom>
        </p:spPr>
        <p:txBody>
          <a:bodyPr vert="horz" lIns="0" tIns="91440" rIns="0" bIns="9144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hr-HR" sz="3150" b="1" kern="1200" spc="-90" baseline="0" noProof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1" i="0" u="none" strike="noStrike" kern="1200" cap="none" spc="-90" normalizeH="0" baseline="0" noProof="0">
                <a:ln>
                  <a:noFill/>
                </a:ln>
                <a:solidFill>
                  <a:srgbClr val="785A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Incremental Portfolio Exposure contributed by Higher Utilization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E96FBD-323B-BE78-FED8-EC2CE5F23EDC}"/>
              </a:ext>
            </a:extLst>
          </p:cNvPr>
          <p:cNvGraphicFramePr>
            <a:graphicFrameLocks noGrp="1"/>
          </p:cNvGraphicFramePr>
          <p:nvPr/>
        </p:nvGraphicFramePr>
        <p:xfrm>
          <a:off x="303508" y="761999"/>
          <a:ext cx="11501058" cy="79037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01058">
                  <a:extLst>
                    <a:ext uri="{9D8B030D-6E8A-4147-A177-3AD203B41FA5}">
                      <a16:colId xmlns:a16="http://schemas.microsoft.com/office/drawing/2014/main" val="2281628252"/>
                    </a:ext>
                  </a:extLst>
                </a:gridCol>
              </a:tblGrid>
              <a:tr h="79037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242424"/>
                          </a:solidFill>
                          <a:effectLst/>
                          <a:latin typeface="Aptos"/>
                        </a:rPr>
                        <a:t>July - December 2025 calculate end of month aggregated utilization at portfolio level</a:t>
                      </a:r>
                      <a:endParaRPr lang="en-US"/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9915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CEDDF2-3EDE-CFED-0501-3744D9FE7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744526"/>
              </p:ext>
            </p:extLst>
          </p:nvPr>
        </p:nvGraphicFramePr>
        <p:xfrm>
          <a:off x="736386" y="1684084"/>
          <a:ext cx="10333987" cy="2565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3845">
                  <a:extLst>
                    <a:ext uri="{9D8B030D-6E8A-4147-A177-3AD203B41FA5}">
                      <a16:colId xmlns:a16="http://schemas.microsoft.com/office/drawing/2014/main" val="3425447679"/>
                    </a:ext>
                  </a:extLst>
                </a:gridCol>
                <a:gridCol w="1988968">
                  <a:extLst>
                    <a:ext uri="{9D8B030D-6E8A-4147-A177-3AD203B41FA5}">
                      <a16:colId xmlns:a16="http://schemas.microsoft.com/office/drawing/2014/main" val="178618521"/>
                    </a:ext>
                  </a:extLst>
                </a:gridCol>
                <a:gridCol w="1988968">
                  <a:extLst>
                    <a:ext uri="{9D8B030D-6E8A-4147-A177-3AD203B41FA5}">
                      <a16:colId xmlns:a16="http://schemas.microsoft.com/office/drawing/2014/main" val="3384028222"/>
                    </a:ext>
                  </a:extLst>
                </a:gridCol>
                <a:gridCol w="2032206">
                  <a:extLst>
                    <a:ext uri="{9D8B030D-6E8A-4147-A177-3AD203B41FA5}">
                      <a16:colId xmlns:a16="http://schemas.microsoft.com/office/drawing/2014/main" val="2686044905"/>
                    </a:ext>
                  </a:extLst>
                </a:gridCol>
              </a:tblGrid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Report Month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Credit Limit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Unpaid Principal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b="1">
                          <a:solidFill>
                            <a:srgbClr val="FFFFFF"/>
                          </a:solidFill>
                          <a:effectLst/>
                          <a:latin typeface="Aptos Narrow"/>
                        </a:rPr>
                        <a:t>% Utilization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595368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₱2,740,096,420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dirty="0">
                          <a:effectLst/>
                          <a:latin typeface="Aptos Narrow"/>
                        </a:rPr>
                        <a:t> ₱1,795,701,237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65.5%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471064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2025-08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₱2,848,041,936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dirty="0">
                          <a:effectLst/>
                          <a:latin typeface="Aptos Narrow"/>
                        </a:rPr>
                        <a:t> ₱1,780,263,173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62.5%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314685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2025-09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₱3,088,568,780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₱1,915,991,531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62.0%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01432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2025-10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₱3,788,395,510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₱2,201,351,926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58.1%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675013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2025-11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₱4,096,449,827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₱2,883,166,076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70.4%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416848"/>
                  </a:ext>
                </a:extLst>
              </a:tr>
              <a:tr h="366553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2025-12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₱4,669,182,197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>
                          <a:effectLst/>
                          <a:latin typeface="Aptos Narrow"/>
                        </a:rPr>
                        <a:t> ₱2,372,270,715 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800" dirty="0">
                          <a:effectLst/>
                          <a:latin typeface="Aptos Narrow"/>
                        </a:rPr>
                        <a:t>50.8%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53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314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1876</Words>
  <Application>Microsoft Office PowerPoint</Application>
  <PresentationFormat>Widescreen</PresentationFormat>
  <Paragraphs>636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Calibri</vt:lpstr>
      <vt:lpstr>Univers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Bhuvanesh</dc:creator>
  <cp:lastModifiedBy>Dwaipayan</cp:lastModifiedBy>
  <cp:revision>5</cp:revision>
  <dcterms:created xsi:type="dcterms:W3CDTF">2025-10-30T09:23:31Z</dcterms:created>
  <dcterms:modified xsi:type="dcterms:W3CDTF">2026-03-20T04:45:08Z</dcterms:modified>
</cp:coreProperties>
</file>