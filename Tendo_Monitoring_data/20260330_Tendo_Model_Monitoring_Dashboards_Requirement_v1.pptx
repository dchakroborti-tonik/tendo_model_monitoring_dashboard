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2C1_438C6B2C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147472590" r:id="rId2"/>
    <p:sldId id="2147472589" r:id="rId3"/>
    <p:sldId id="700" r:id="rId4"/>
    <p:sldId id="701" r:id="rId5"/>
    <p:sldId id="702" r:id="rId6"/>
    <p:sldId id="703" r:id="rId7"/>
    <p:sldId id="704" r:id="rId8"/>
    <p:sldId id="705" r:id="rId9"/>
    <p:sldId id="707" r:id="rId10"/>
    <p:sldId id="708" r:id="rId11"/>
    <p:sldId id="70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" id="{BED758F4-B1BA-4015-AB38-DF57F522634C}">
          <p14:sldIdLst>
            <p14:sldId id="2147472590"/>
            <p14:sldId id="2147472589"/>
            <p14:sldId id="700"/>
            <p14:sldId id="701"/>
            <p14:sldId id="702"/>
            <p14:sldId id="703"/>
            <p14:sldId id="704"/>
            <p14:sldId id="705"/>
          </p14:sldIdLst>
        </p14:section>
        <p14:section name="Graveyard" id="{00FCD5FA-9AD4-48CB-AD65-449EE7BA0A03}">
          <p14:sldIdLst>
            <p14:sldId id="707"/>
            <p14:sldId id="708"/>
            <p14:sldId id="7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506302E-F89E-6C30-C409-4CF383A519FE}" name="Dwaipayan" initials="DC" userId="S::dchakroborti@tonikbank.com::7f15c41c-02b9-46ec-a288-0f843f1b7025" providerId="AD"/>
  <p188:author id="{2C534095-872E-B9BF-000A-877A9D2F4B99}" name="Armani Mikhail Alcayaga" initials="AA" userId="S::aalcayaga@tonik-group.com::88c432e1-ea51-4331-a51f-51ed13965014" providerId="AD"/>
  <p188:author id="{AB7775A1-91B8-AC17-9FB4-3F5C22474ED6}" name="Mike Singh" initials="MS" userId="S::msingh@tonikbank.com::c5b66818-ed9a-49b6-aac0-299a57b7e847" providerId="AD"/>
  <p188:author id="{CA7CEBD3-1B30-E62A-01CE-F2917BC9FE65}" name="Biswa" initials="" userId="S::bbanik@tonikbank.com::26f52a98-3216-49f8-95c0-92c9bbdc30b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5AFF"/>
    <a:srgbClr val="0273BF"/>
    <a:srgbClr val="712EA0"/>
    <a:srgbClr val="F1F4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F15A9E-5F3E-43AB-B7F8-C2FB510FF46D}" v="2" dt="2026-03-30T13:26:23.9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76"/>
  </p:normalViewPr>
  <p:slideViewPr>
    <p:cSldViewPr snapToGrid="0">
      <p:cViewPr varScale="1">
        <p:scale>
          <a:sx n="115" d="100"/>
          <a:sy n="115" d="100"/>
        </p:scale>
        <p:origin x="60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waipayan" userId="7f15c41c-02b9-46ec-a288-0f843f1b7025" providerId="ADAL" clId="{005D3663-E96E-4537-BD2E-491CCB7FD075}"/>
    <pc:docChg chg="modSld">
      <pc:chgData name="Dwaipayan" userId="7f15c41c-02b9-46ec-a288-0f843f1b7025" providerId="ADAL" clId="{005D3663-E96E-4537-BD2E-491CCB7FD075}" dt="2026-03-30T13:26:23.927" v="1"/>
      <pc:docMkLst>
        <pc:docMk/>
      </pc:docMkLst>
      <pc:sldChg chg="modSp">
        <pc:chgData name="Dwaipayan" userId="7f15c41c-02b9-46ec-a288-0f843f1b7025" providerId="ADAL" clId="{005D3663-E96E-4537-BD2E-491CCB7FD075}" dt="2026-03-30T13:26:23.927" v="1"/>
        <pc:sldMkLst>
          <pc:docMk/>
          <pc:sldMk cId="3243404167" sldId="704"/>
        </pc:sldMkLst>
        <pc:graphicFrameChg chg="mod">
          <ac:chgData name="Dwaipayan" userId="7f15c41c-02b9-46ec-a288-0f843f1b7025" providerId="ADAL" clId="{005D3663-E96E-4537-BD2E-491CCB7FD075}" dt="2026-03-30T13:26:23.927" v="1"/>
          <ac:graphicFrameMkLst>
            <pc:docMk/>
            <pc:sldMk cId="3243404167" sldId="704"/>
            <ac:graphicFrameMk id="4" creationId="{40BC94D2-4A7C-9DEF-CEB6-F9573ED4C048}"/>
          </ac:graphicFrameMkLst>
        </pc:graphicFrameChg>
      </pc:sldChg>
      <pc:sldChg chg="modSp">
        <pc:chgData name="Dwaipayan" userId="7f15c41c-02b9-46ec-a288-0f843f1b7025" providerId="ADAL" clId="{005D3663-E96E-4537-BD2E-491CCB7FD075}" dt="2026-03-30T13:19:59.808" v="0"/>
        <pc:sldMkLst>
          <pc:docMk/>
          <pc:sldMk cId="1133275948" sldId="705"/>
        </pc:sldMkLst>
        <pc:graphicFrameChg chg="mod">
          <ac:chgData name="Dwaipayan" userId="7f15c41c-02b9-46ec-a288-0f843f1b7025" providerId="ADAL" clId="{005D3663-E96E-4537-BD2E-491CCB7FD075}" dt="2026-03-30T13:19:59.808" v="0"/>
          <ac:graphicFrameMkLst>
            <pc:docMk/>
            <pc:sldMk cId="1133275948" sldId="705"/>
            <ac:graphicFrameMk id="5" creationId="{CD2704D4-2F1F-1260-52B6-74BD11C46C22}"/>
          </ac:graphicFrameMkLst>
        </pc:graphicFrameChg>
      </pc:sldChg>
    </pc:docChg>
  </pc:docChgLst>
</pc:chgInfo>
</file>

<file path=ppt/comments/modernComment_2C1_438C6B2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F60D14C-F50D-4E67-A3C3-F61C52CB0E18}" authorId="{F506302E-F89E-6C30-C409-4CF383A519FE}" created="2026-03-30T12:46:57.248">
    <pc:sldMkLst xmlns:pc="http://schemas.microsoft.com/office/powerpoint/2013/main/command">
      <pc:docMk/>
      <pc:sldMk cId="1133275948" sldId="705"/>
    </pc:sldMkLst>
    <p188:txBody>
      <a:bodyPr/>
      <a:lstStyle/>
      <a:p>
        <a:r>
          <a:rPr lang="en-IN"/>
          <a:t>V1 and v2 both updated but the number coming from v1 query for dec 2025 seems wrong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B5FAA6-7B0F-4CC3-BF1D-79BC1D84B8EA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6D03CB-0BA0-4CDD-9510-3454B9FD5A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117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7D3E5B-4BED-B24C-9674-6B6454D0456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1815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8CE4F-941F-72B9-BDBE-9F51A1D7D3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8DE1AC-09FE-A261-1F13-CFDEBCA29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B1405-DEEE-BDCB-589C-0FAE15BF6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844845-033C-B5D4-061B-4BD44312C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821F1-127A-E339-79A6-BCA8692E2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2862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2B295-F810-AC97-1336-537D8ACE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02D5B-DD62-7038-C157-D06BA17C2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A6C57-C35B-32E1-0FB5-516C59F69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57B3EF-A72A-3CCE-7718-B3E6AE807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4BC1D7-E2B3-2C2A-01C8-FCBC4D1C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8558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F018C-8FB8-CDC7-4848-E8EE4D2E2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CA6E9-3194-FE07-FC59-29550E258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62510D-FCD5-DA67-0670-FE42FF6F0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FA9A-22AD-A8B8-7550-1AC0B3A72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3E0D8-0BAA-1CBF-C5B5-2A71DB019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2359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63558-6AE0-7C48-904F-292443F46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CCE5-4258-8FD9-34B6-577768265D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202128-E378-6CB6-3AA1-54B12248B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942B29-18DC-4542-22BF-48854058D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F74BAE-C1BE-7217-36CA-29A7B2B4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E896D2-F480-2F42-C9C9-808804AA7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8199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899E2-895C-F940-E970-7C2AFD491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0BD517-0E8B-9528-9721-AF47CD91C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0DE40D-68C6-AB98-8F20-053549551A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206E0-F5B2-2CF9-ECB2-A6A029462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26A833-8C4B-5897-4BB8-A4917BAB6F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15D0B-65CF-D209-6D67-FE9B5A767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AFE91-5629-086C-F1B4-F7A968BF2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FD9DE-371F-1842-C2F8-C98D6841F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2074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910ED-50C0-CEA7-F3F7-551ADD9A0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30FFC-358D-3E55-7103-5288EBD70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FE89E0-18FF-9AA1-5062-BBA816D41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5636BD-8107-9893-B683-4A73E4C47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9443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B4B3F4-F367-F383-8C45-D2990BF8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7FA72A-D531-0D83-9607-82150351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A1059-E837-8822-0AB3-68551844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1312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2A183-5CE4-B052-480D-7CEC6773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422D7-7ADB-50FF-08B5-1A601D8D2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34778-29B6-0433-C094-E7EBE2D6D1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B4F0E5-1B9A-41D2-EC67-1CEC92A30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F3685-3F62-4782-0D49-7355E44AE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D3D3C3-B55D-7209-3C7B-F86188E4F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235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224B4-E477-9CF8-A7D1-DA6856E0B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AB8412-1302-ED6F-B05D-1D527E2E76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E400D5-9759-817A-289D-1338A82FD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D0EA1-3244-67A8-B1EB-1FDC9722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9F6F6-2BB0-686A-BE26-B15EFF0AB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FC3FF1-285A-6F08-08AD-1D59B4130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233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5882E-FEBB-E8CF-3DF2-FB2A919B3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E45C2-925B-C825-67C7-F644E5D9BD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636B2-51AC-7038-D9D5-07A4028D7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AFBD-D456-7F88-359D-748E00BD7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5CD36-829B-5A02-060B-FCFC10B6A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444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086900-D229-7BF9-C2C2-176517E66D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D71EC1-71C9-5509-ED93-75B347B0C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899F-7DA7-09AA-FFC7-AF54DCB8A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9705BE-84A4-F70D-DD97-A7841EFCC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515DC-1934-D698-130D-C3BCCEC98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6881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4B9B66-9816-D51A-F09C-2D0893C1E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B6DC55-D377-8DDE-9B2A-3DCA53BA8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F756A-D982-72D4-4E64-B9EBC81BB0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44E169-2CBE-4EE1-BF11-E0E41621B07B}" type="datetimeFigureOut">
              <a:rPr lang="en-IN" smtClean="0"/>
              <a:t>30-03-2026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ABEF1B-689A-B1A5-0641-E695FCAC92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A2FEC-A02F-73B2-5651-751A56FFF3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C93BBF-DF92-49AC-A5C3-5519F46F4F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0222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2C1_438C6B2C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C85E29A-358E-F865-7068-9BB99CDF333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85A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26E68C1-1703-73CF-D4D8-D10C96073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sr-Latn-R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D1EF7E-A717-2F60-65EA-522DDC724E9C}"/>
              </a:ext>
            </a:extLst>
          </p:cNvPr>
          <p:cNvSpPr txBox="1"/>
          <p:nvPr/>
        </p:nvSpPr>
        <p:spPr>
          <a:xfrm>
            <a:off x="4724400" y="3200400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​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6" descr="A purple text on a black background&#10;&#10;Description automatically generated">
            <a:extLst>
              <a:ext uri="{FF2B5EF4-FFF2-40B4-BE49-F238E27FC236}">
                <a16:creationId xmlns:a16="http://schemas.microsoft.com/office/drawing/2014/main" id="{01F4EF96-D230-0505-B825-D55DEAD4B2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521" t="26850" r="16351" b="31078"/>
          <a:stretch/>
        </p:blipFill>
        <p:spPr>
          <a:xfrm>
            <a:off x="4102817" y="4736147"/>
            <a:ext cx="3973283" cy="1374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C262F3C-E8F8-3342-CA6A-355CE7891986}"/>
              </a:ext>
            </a:extLst>
          </p:cNvPr>
          <p:cNvSpPr txBox="1"/>
          <p:nvPr/>
        </p:nvSpPr>
        <p:spPr>
          <a:xfrm>
            <a:off x="520928" y="1090646"/>
            <a:ext cx="11126988" cy="31700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Univers"/>
                <a:ea typeface="+mn-ea"/>
                <a:cs typeface="Calibri"/>
              </a:rPr>
              <a:t>Each Slide will be a page in the Dashboard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000" b="1" dirty="0">
              <a:solidFill>
                <a:prstClr val="white"/>
              </a:solidFill>
              <a:latin typeface="Univers"/>
              <a:cs typeface="Calibri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Univers"/>
                <a:ea typeface="+mn-ea"/>
                <a:cs typeface="Calibri"/>
              </a:rPr>
              <a:t>Dashboard to be refreshed every month</a:t>
            </a:r>
          </a:p>
          <a:p>
            <a:pPr algn="ctr">
              <a:defRPr/>
            </a:pPr>
            <a:endParaRPr lang="en-US" sz="4000" b="1" dirty="0">
              <a:solidFill>
                <a:prstClr val="white"/>
              </a:solidFill>
              <a:latin typeface="Univers"/>
              <a:cs typeface="Calibri"/>
            </a:endParaRPr>
          </a:p>
          <a:p>
            <a:pPr algn="ctr">
              <a:defRPr/>
            </a:pPr>
            <a:r>
              <a:rPr lang="en-US" sz="4000" b="1">
                <a:solidFill>
                  <a:prstClr val="white"/>
                </a:solidFill>
                <a:latin typeface="Univers"/>
                <a:cs typeface="Calibri"/>
              </a:rPr>
              <a:t>Here all calculations done as of 1st Feb 2026</a:t>
            </a:r>
            <a:endParaRPr lang="en-US" sz="4000" b="1" dirty="0">
              <a:solidFill>
                <a:prstClr val="white"/>
              </a:solidFill>
              <a:latin typeface="Univers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36384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D6696-FEA1-E970-2B31-5577B556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0C43C1A6-AF8F-D935-0A55-58669235AC78}"/>
              </a:ext>
            </a:extLst>
          </p:cNvPr>
          <p:cNvSpPr>
            <a:spLocks noGrp="1"/>
          </p:cNvSpPr>
          <p:nvPr/>
        </p:nvSpPr>
        <p:spPr>
          <a:xfrm>
            <a:off x="271117" y="-1557"/>
            <a:ext cx="11634889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6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Early model performance metrics (Gini / C-index) are not decision-grade at this stage and should not be used to judge whether CL+ “worked” or “failed.”  Using them risks false conclusions because most New Scorecard loans and CL+ loans are still not mature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B4C399-672C-1BC7-D72E-F75FB82EE3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195865"/>
              </p:ext>
            </p:extLst>
          </p:nvPr>
        </p:nvGraphicFramePr>
        <p:xfrm>
          <a:off x="271117" y="2156987"/>
          <a:ext cx="11457587" cy="1559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955">
                  <a:extLst>
                    <a:ext uri="{9D8B030D-6E8A-4147-A177-3AD203B41FA5}">
                      <a16:colId xmlns:a16="http://schemas.microsoft.com/office/drawing/2014/main" val="255431678"/>
                    </a:ext>
                  </a:extLst>
                </a:gridCol>
                <a:gridCol w="2170176">
                  <a:extLst>
                    <a:ext uri="{9D8B030D-6E8A-4147-A177-3AD203B41FA5}">
                      <a16:colId xmlns:a16="http://schemas.microsoft.com/office/drawing/2014/main" val="3789926823"/>
                    </a:ext>
                  </a:extLst>
                </a:gridCol>
                <a:gridCol w="1914144">
                  <a:extLst>
                    <a:ext uri="{9D8B030D-6E8A-4147-A177-3AD203B41FA5}">
                      <a16:colId xmlns:a16="http://schemas.microsoft.com/office/drawing/2014/main" val="2655863509"/>
                    </a:ext>
                  </a:extLst>
                </a:gridCol>
                <a:gridCol w="2157984">
                  <a:extLst>
                    <a:ext uri="{9D8B030D-6E8A-4147-A177-3AD203B41FA5}">
                      <a16:colId xmlns:a16="http://schemas.microsoft.com/office/drawing/2014/main" val="567473778"/>
                    </a:ext>
                  </a:extLst>
                </a:gridCol>
                <a:gridCol w="2243328">
                  <a:extLst>
                    <a:ext uri="{9D8B030D-6E8A-4147-A177-3AD203B41FA5}">
                      <a16:colId xmlns:a16="http://schemas.microsoft.com/office/drawing/2014/main" val="2278680880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r>
                        <a:rPr lang="en-US"/>
                        <a:t>User Type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/>
                        <a:t>OOP Repay Model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/>
                        <a:t>Attrition Model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14768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/>
                        <a:t>Dev Gini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/>
                        <a:t>Jul – Aug Gini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/>
                        <a:t>Dev C-Index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/>
                        <a:t>Jul – Aug C-Index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9019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New users (&lt; 3MOB)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/>
                        <a:t>0.60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829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Existing users (&gt;=3 MOB)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/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7389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4399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E9AA1-53CC-8862-ECA6-BF6D4FACC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641409C-89C0-FD6C-A8B1-CFC688CAD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077740"/>
              </p:ext>
            </p:extLst>
          </p:nvPr>
        </p:nvGraphicFramePr>
        <p:xfrm>
          <a:off x="336449" y="999434"/>
          <a:ext cx="11519101" cy="2563374"/>
        </p:xfrm>
        <a:graphic>
          <a:graphicData uri="http://schemas.openxmlformats.org/drawingml/2006/table">
            <a:tbl>
              <a:tblPr/>
              <a:tblGrid>
                <a:gridCol w="1468879">
                  <a:extLst>
                    <a:ext uri="{9D8B030D-6E8A-4147-A177-3AD203B41FA5}">
                      <a16:colId xmlns:a16="http://schemas.microsoft.com/office/drawing/2014/main" val="356123121"/>
                    </a:ext>
                  </a:extLst>
                </a:gridCol>
                <a:gridCol w="889058">
                  <a:extLst>
                    <a:ext uri="{9D8B030D-6E8A-4147-A177-3AD203B41FA5}">
                      <a16:colId xmlns:a16="http://schemas.microsoft.com/office/drawing/2014/main" val="1108787874"/>
                    </a:ext>
                  </a:extLst>
                </a:gridCol>
                <a:gridCol w="1301374">
                  <a:extLst>
                    <a:ext uri="{9D8B030D-6E8A-4147-A177-3AD203B41FA5}">
                      <a16:colId xmlns:a16="http://schemas.microsoft.com/office/drawing/2014/main" val="3854960305"/>
                    </a:ext>
                  </a:extLst>
                </a:gridCol>
                <a:gridCol w="2229088">
                  <a:extLst>
                    <a:ext uri="{9D8B030D-6E8A-4147-A177-3AD203B41FA5}">
                      <a16:colId xmlns:a16="http://schemas.microsoft.com/office/drawing/2014/main" val="2541918898"/>
                    </a:ext>
                  </a:extLst>
                </a:gridCol>
                <a:gridCol w="3208341">
                  <a:extLst>
                    <a:ext uri="{9D8B030D-6E8A-4147-A177-3AD203B41FA5}">
                      <a16:colId xmlns:a16="http://schemas.microsoft.com/office/drawing/2014/main" val="768635086"/>
                    </a:ext>
                  </a:extLst>
                </a:gridCol>
                <a:gridCol w="2422361">
                  <a:extLst>
                    <a:ext uri="{9D8B030D-6E8A-4147-A177-3AD203B41FA5}">
                      <a16:colId xmlns:a16="http://schemas.microsoft.com/office/drawing/2014/main" val="1693833611"/>
                    </a:ext>
                  </a:extLst>
                </a:gridCol>
              </a:tblGrid>
              <a:tr h="286894">
                <a:tc gridSpan="6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prod (OOP v1.0) New users, prod customers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285540"/>
                  </a:ext>
                </a:extLst>
              </a:tr>
              <a:tr h="5207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OOP Risk Groups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Bad Rate, %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Sum Osbal as of resignation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Sum Osbal for OOP Flag Bads as of today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Outstanding balance bad rate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8546727"/>
                  </a:ext>
                </a:extLst>
              </a:tr>
              <a:tr h="2868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61.5%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9,78,836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7,18,433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73.4%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83827"/>
                  </a:ext>
                </a:extLst>
              </a:tr>
              <a:tr h="2868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69.2%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6,30,199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4,24,656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67.4%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A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124572"/>
                  </a:ext>
                </a:extLst>
              </a:tr>
              <a:tr h="2868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73.8%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3,92,620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2,90,469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74.0%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A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1209049"/>
                  </a:ext>
                </a:extLst>
              </a:tr>
              <a:tr h="2868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59,443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44,855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75.5%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3703891"/>
                  </a:ext>
                </a:extLst>
              </a:tr>
              <a:tr h="2868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55.6%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48,530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39,893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82.2%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365402"/>
                  </a:ext>
                </a:extLst>
              </a:tr>
              <a:tr h="2868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F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62.5%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1,79,410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1,02,231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57.0%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A8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005188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5F7CDC7-BD4B-B236-C545-4DFA37186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833081"/>
              </p:ext>
            </p:extLst>
          </p:nvPr>
        </p:nvGraphicFramePr>
        <p:xfrm>
          <a:off x="336448" y="3770925"/>
          <a:ext cx="11519101" cy="2566542"/>
        </p:xfrm>
        <a:graphic>
          <a:graphicData uri="http://schemas.openxmlformats.org/drawingml/2006/table">
            <a:tbl>
              <a:tblPr/>
              <a:tblGrid>
                <a:gridCol w="1450788">
                  <a:extLst>
                    <a:ext uri="{9D8B030D-6E8A-4147-A177-3AD203B41FA5}">
                      <a16:colId xmlns:a16="http://schemas.microsoft.com/office/drawing/2014/main" val="2344063113"/>
                    </a:ext>
                  </a:extLst>
                </a:gridCol>
                <a:gridCol w="961997">
                  <a:extLst>
                    <a:ext uri="{9D8B030D-6E8A-4147-A177-3AD203B41FA5}">
                      <a16:colId xmlns:a16="http://schemas.microsoft.com/office/drawing/2014/main" val="3481579863"/>
                    </a:ext>
                  </a:extLst>
                </a:gridCol>
                <a:gridCol w="1268585">
                  <a:extLst>
                    <a:ext uri="{9D8B030D-6E8A-4147-A177-3AD203B41FA5}">
                      <a16:colId xmlns:a16="http://schemas.microsoft.com/office/drawing/2014/main" val="2513233770"/>
                    </a:ext>
                  </a:extLst>
                </a:gridCol>
                <a:gridCol w="2230582">
                  <a:extLst>
                    <a:ext uri="{9D8B030D-6E8A-4147-A177-3AD203B41FA5}">
                      <a16:colId xmlns:a16="http://schemas.microsoft.com/office/drawing/2014/main" val="2430245366"/>
                    </a:ext>
                  </a:extLst>
                </a:gridCol>
                <a:gridCol w="3172691">
                  <a:extLst>
                    <a:ext uri="{9D8B030D-6E8A-4147-A177-3AD203B41FA5}">
                      <a16:colId xmlns:a16="http://schemas.microsoft.com/office/drawing/2014/main" val="2812989885"/>
                    </a:ext>
                  </a:extLst>
                </a:gridCol>
                <a:gridCol w="2434458">
                  <a:extLst>
                    <a:ext uri="{9D8B030D-6E8A-4147-A177-3AD203B41FA5}">
                      <a16:colId xmlns:a16="http://schemas.microsoft.com/office/drawing/2014/main" val="3473614700"/>
                    </a:ext>
                  </a:extLst>
                </a:gridCol>
              </a:tblGrid>
              <a:tr h="287422">
                <a:tc gridSpan="6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SG" sz="1600" b="1" i="0" u="none" strike="noStrike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backscored</a:t>
                      </a:r>
                      <a:r>
                        <a:rPr lang="en-SG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(OOP v2.0) New users, prod customers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5A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1873887"/>
                  </a:ext>
                </a:extLst>
              </a:tr>
              <a:tr h="52175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OOP Risk Groups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Bad Rate, %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Sum Osbal as of resignation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Sum Osbal for OOP Flag Bads as of today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Outstanding balance bad rate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2973073"/>
                  </a:ext>
                </a:extLst>
              </a:tr>
              <a:tr h="28742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83.3%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92,872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71,396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76.9%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C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777685"/>
                  </a:ext>
                </a:extLst>
              </a:tr>
              <a:tr h="28742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55.7%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7,74,778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5,42,749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70.1%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523375"/>
                  </a:ext>
                </a:extLst>
              </a:tr>
              <a:tr h="28742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69.6%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8,58,157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6,04,478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70.4%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A6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8661669"/>
                  </a:ext>
                </a:extLst>
              </a:tr>
              <a:tr h="28742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69.0%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3,45,129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2,15,834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62.5%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9C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381233"/>
                  </a:ext>
                </a:extLst>
              </a:tr>
              <a:tr h="28742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64.7%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1,35,849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1,03,827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76.4%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534125"/>
                  </a:ext>
                </a:extLst>
              </a:tr>
              <a:tr h="28742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F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82,252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82,252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39279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DE284A2-608D-092A-3828-E41DCD4ACB67}"/>
              </a:ext>
            </a:extLst>
          </p:cNvPr>
          <p:cNvSpPr txBox="1"/>
          <p:nvPr/>
        </p:nvSpPr>
        <p:spPr>
          <a:xfrm>
            <a:off x="10460182" y="961264"/>
            <a:ext cx="1731818" cy="366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Jun – Aug 2025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46F2D26-BA91-4977-34AF-08D444F03B25}"/>
              </a:ext>
            </a:extLst>
          </p:cNvPr>
          <p:cNvSpPr>
            <a:spLocks noGrp="1"/>
          </p:cNvSpPr>
          <p:nvPr/>
        </p:nvSpPr>
        <p:spPr>
          <a:xfrm>
            <a:off x="271117" y="-1557"/>
            <a:ext cx="11634889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We did rank order sanity checks to get a feel if our OOP model is directionally correct or not  - for 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New Users count too small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F98E88-881D-5FBF-554C-F996F3139EA3}"/>
              </a:ext>
            </a:extLst>
          </p:cNvPr>
          <p:cNvSpPr txBox="1"/>
          <p:nvPr/>
        </p:nvSpPr>
        <p:spPr>
          <a:xfrm>
            <a:off x="323289" y="6397454"/>
            <a:ext cx="8548106" cy="46166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OOP Model v1.0 = First version of OOP model that went live in June 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OOP Model v2.0 = Second version of OOP model with the Region calculation fix, which went live in November 2026</a:t>
            </a:r>
          </a:p>
        </p:txBody>
      </p:sp>
    </p:spTree>
    <p:extLst>
      <p:ext uri="{BB962C8B-B14F-4D97-AF65-F5344CB8AC3E}">
        <p14:creationId xmlns:p14="http://schemas.microsoft.com/office/powerpoint/2010/main" val="364012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4A26F-9C31-78FF-8914-DDBC2CCF9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605280-0088-745A-E573-2BF0A5BCB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7F0D36C-296C-4C41-928D-13DEBF2E67EF}" type="slidenum">
              <a:rPr kumimoji="0" lang="en-P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PH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EF1D026-DAB2-7FE4-8020-374EEDBCB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23738"/>
              </p:ext>
            </p:extLst>
          </p:nvPr>
        </p:nvGraphicFramePr>
        <p:xfrm>
          <a:off x="615950" y="1010271"/>
          <a:ext cx="10905490" cy="2450760"/>
        </p:xfrm>
        <a:graphic>
          <a:graphicData uri="http://schemas.openxmlformats.org/drawingml/2006/table">
            <a:tbl>
              <a:tblPr/>
              <a:tblGrid>
                <a:gridCol w="1390633">
                  <a:extLst>
                    <a:ext uri="{9D8B030D-6E8A-4147-A177-3AD203B41FA5}">
                      <a16:colId xmlns:a16="http://schemas.microsoft.com/office/drawing/2014/main" val="989206229"/>
                    </a:ext>
                  </a:extLst>
                </a:gridCol>
                <a:gridCol w="841699">
                  <a:extLst>
                    <a:ext uri="{9D8B030D-6E8A-4147-A177-3AD203B41FA5}">
                      <a16:colId xmlns:a16="http://schemas.microsoft.com/office/drawing/2014/main" val="1817912746"/>
                    </a:ext>
                  </a:extLst>
                </a:gridCol>
                <a:gridCol w="1232051">
                  <a:extLst>
                    <a:ext uri="{9D8B030D-6E8A-4147-A177-3AD203B41FA5}">
                      <a16:colId xmlns:a16="http://schemas.microsoft.com/office/drawing/2014/main" val="4264034763"/>
                    </a:ext>
                  </a:extLst>
                </a:gridCol>
                <a:gridCol w="2110347">
                  <a:extLst>
                    <a:ext uri="{9D8B030D-6E8A-4147-A177-3AD203B41FA5}">
                      <a16:colId xmlns:a16="http://schemas.microsoft.com/office/drawing/2014/main" val="2578174033"/>
                    </a:ext>
                  </a:extLst>
                </a:gridCol>
                <a:gridCol w="3037436">
                  <a:extLst>
                    <a:ext uri="{9D8B030D-6E8A-4147-A177-3AD203B41FA5}">
                      <a16:colId xmlns:a16="http://schemas.microsoft.com/office/drawing/2014/main" val="2527911143"/>
                    </a:ext>
                  </a:extLst>
                </a:gridCol>
                <a:gridCol w="2293324">
                  <a:extLst>
                    <a:ext uri="{9D8B030D-6E8A-4147-A177-3AD203B41FA5}">
                      <a16:colId xmlns:a16="http://schemas.microsoft.com/office/drawing/2014/main" val="2296044050"/>
                    </a:ext>
                  </a:extLst>
                </a:gridCol>
              </a:tblGrid>
              <a:tr h="268125">
                <a:tc gridSpan="6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prod (OOP v1.0) Existing users, prod customers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138217"/>
                  </a:ext>
                </a:extLst>
              </a:tr>
              <a:tr h="4566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OOP Risk Groups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Bad Rate, %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Sum Osbal as of resignation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Sum Osbal for OOP Flag Bads as of today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Outstanding balance bad rate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3786045"/>
                  </a:ext>
                </a:extLst>
              </a:tr>
              <a:tr h="2681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55.1%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20,35,219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10,60,619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52.1%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122357"/>
                  </a:ext>
                </a:extLst>
              </a:tr>
              <a:tr h="2681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768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62.0%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1,35,90,440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87,12,929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64.1%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C7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333240"/>
                  </a:ext>
                </a:extLst>
              </a:tr>
              <a:tr h="2681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1044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69.3%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1,80,39,660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1,09,56,507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60.7%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0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466047"/>
                  </a:ext>
                </a:extLst>
              </a:tr>
              <a:tr h="2681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861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79.9%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1,35,77,790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1,03,82,112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76.5%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91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464029"/>
                  </a:ext>
                </a:extLst>
              </a:tr>
              <a:tr h="2681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353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50,51,804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39,88,533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E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046418"/>
                  </a:ext>
                </a:extLst>
              </a:tr>
              <a:tr h="2681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F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296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86.8%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33,91,040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28,17,575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83.1%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58611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1852EE6-3F57-7C58-1787-ADE4CAC885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220039"/>
              </p:ext>
            </p:extLst>
          </p:nvPr>
        </p:nvGraphicFramePr>
        <p:xfrm>
          <a:off x="615950" y="3774325"/>
          <a:ext cx="10905490" cy="2373042"/>
        </p:xfrm>
        <a:graphic>
          <a:graphicData uri="http://schemas.openxmlformats.org/drawingml/2006/table">
            <a:tbl>
              <a:tblPr/>
              <a:tblGrid>
                <a:gridCol w="1395730">
                  <a:extLst>
                    <a:ext uri="{9D8B030D-6E8A-4147-A177-3AD203B41FA5}">
                      <a16:colId xmlns:a16="http://schemas.microsoft.com/office/drawing/2014/main" val="1557549944"/>
                    </a:ext>
                  </a:extLst>
                </a:gridCol>
                <a:gridCol w="888528">
                  <a:extLst>
                    <a:ext uri="{9D8B030D-6E8A-4147-A177-3AD203B41FA5}">
                      <a16:colId xmlns:a16="http://schemas.microsoft.com/office/drawing/2014/main" val="3029507093"/>
                    </a:ext>
                  </a:extLst>
                </a:gridCol>
                <a:gridCol w="1084233">
                  <a:extLst>
                    <a:ext uri="{9D8B030D-6E8A-4147-A177-3AD203B41FA5}">
                      <a16:colId xmlns:a16="http://schemas.microsoft.com/office/drawing/2014/main" val="3422205197"/>
                    </a:ext>
                  </a:extLst>
                </a:gridCol>
                <a:gridCol w="2209095">
                  <a:extLst>
                    <a:ext uri="{9D8B030D-6E8A-4147-A177-3AD203B41FA5}">
                      <a16:colId xmlns:a16="http://schemas.microsoft.com/office/drawing/2014/main" val="476131375"/>
                    </a:ext>
                  </a:extLst>
                </a:gridCol>
                <a:gridCol w="3023616">
                  <a:extLst>
                    <a:ext uri="{9D8B030D-6E8A-4147-A177-3AD203B41FA5}">
                      <a16:colId xmlns:a16="http://schemas.microsoft.com/office/drawing/2014/main" val="2423140823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891932644"/>
                    </a:ext>
                  </a:extLst>
                </a:gridCol>
              </a:tblGrid>
              <a:tr h="255172">
                <a:tc gridSpan="6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SG" sz="1600" b="1" i="0" u="none" strike="noStrike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backscored</a:t>
                      </a:r>
                      <a:r>
                        <a:rPr lang="en-SG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(OOP v2.0) Existing users, prod customers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5A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8582606"/>
                  </a:ext>
                </a:extLst>
              </a:tr>
              <a:tr h="2551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OOP Risk Groups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Bad Rate, %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Sum Osbal as of resignation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Sum </a:t>
                      </a:r>
                      <a:r>
                        <a:rPr lang="en-SG" sz="1600" b="1" i="0" u="none" strike="noStrike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Osbal</a:t>
                      </a: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for OOP Flag Bads as of today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Outstanding balance bad rate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9695762"/>
                  </a:ext>
                </a:extLst>
              </a:tr>
              <a:tr h="25517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49.3%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13,04,149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6,40,130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49.1%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535778"/>
                  </a:ext>
                </a:extLst>
              </a:tr>
              <a:tr h="25517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521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57.0%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95,12,222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54,33,452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57.1%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9433962"/>
                  </a:ext>
                </a:extLst>
              </a:tr>
              <a:tr h="25517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660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68.9%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1,25,58,810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85,34,721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68.0%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A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74953"/>
                  </a:ext>
                </a:extLst>
              </a:tr>
              <a:tr h="25517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588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76.7%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88,76,604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65,47,135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73.8%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A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247292"/>
                  </a:ext>
                </a:extLst>
              </a:tr>
              <a:tr h="25517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317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83.6%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42,82,780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35,43,305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923457"/>
                  </a:ext>
                </a:extLst>
              </a:tr>
              <a:tr h="255172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F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265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85.7%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31,50,621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27,27,977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86.6%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38006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6F7857C-E3A4-77F2-2546-6A82A8F1F87D}"/>
              </a:ext>
            </a:extLst>
          </p:cNvPr>
          <p:cNvSpPr txBox="1"/>
          <p:nvPr/>
        </p:nvSpPr>
        <p:spPr>
          <a:xfrm>
            <a:off x="10002983" y="940216"/>
            <a:ext cx="218901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Jul 2025 snapshot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3520664-D98F-DA77-9CF2-C227AF1370E1}"/>
              </a:ext>
            </a:extLst>
          </p:cNvPr>
          <p:cNvSpPr>
            <a:spLocks noGrp="1"/>
          </p:cNvSpPr>
          <p:nvPr/>
        </p:nvSpPr>
        <p:spPr>
          <a:xfrm>
            <a:off x="271117" y="-1557"/>
            <a:ext cx="11634889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We did rank order sanity checks to get a feel if our OOP model is directionally correct or not  - for 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Existing Users monotonicity is observed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D037B-D790-8A7C-2EE1-C5D54E2400C4}"/>
              </a:ext>
            </a:extLst>
          </p:cNvPr>
          <p:cNvSpPr txBox="1"/>
          <p:nvPr/>
        </p:nvSpPr>
        <p:spPr>
          <a:xfrm>
            <a:off x="592230" y="6423067"/>
            <a:ext cx="8548106" cy="46166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OOP Model v1.0 = First version of OOP model that went live in June 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OOP Model v2.0 = Second version of OOP model with the Region calculation fix, which went live in November 2026</a:t>
            </a:r>
          </a:p>
        </p:txBody>
      </p:sp>
    </p:spTree>
    <p:extLst>
      <p:ext uri="{BB962C8B-B14F-4D97-AF65-F5344CB8AC3E}">
        <p14:creationId xmlns:p14="http://schemas.microsoft.com/office/powerpoint/2010/main" val="2981098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03BFB-C2E0-1E8D-9814-52C3C75B9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0475D55D-B4DB-09B9-12EE-6B2A1695BA19}"/>
              </a:ext>
            </a:extLst>
          </p:cNvPr>
          <p:cNvSpPr>
            <a:spLocks noGrp="1"/>
          </p:cNvSpPr>
          <p:nvPr/>
        </p:nvSpPr>
        <p:spPr>
          <a:xfrm>
            <a:off x="271117" y="-1557"/>
            <a:ext cx="11634889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We did rank order sanity checks to get a feel if our Attrition model is directionally correct or not  - for 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New Users count too small and we have only early </a:t>
            </a:r>
            <a:r>
              <a:rPr lang="en-SG" sz="2800">
                <a:solidFill>
                  <a:prstClr val="black"/>
                </a:solidFill>
                <a:latin typeface="Aptos Display" panose="02110004020202020204"/>
              </a:rPr>
              <a:t>resignations</a:t>
            </a:r>
            <a:endParaRPr lang="en-SG" sz="2800" b="1" i="0" u="none" strike="noStrike" kern="1200" cap="none" spc="-9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5287EDC-CB23-5266-DF63-3A22284E7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0917948"/>
              </p:ext>
            </p:extLst>
          </p:nvPr>
        </p:nvGraphicFramePr>
        <p:xfrm>
          <a:off x="336448" y="1234188"/>
          <a:ext cx="11519100" cy="2354259"/>
        </p:xfrm>
        <a:graphic>
          <a:graphicData uri="http://schemas.openxmlformats.org/drawingml/2006/table">
            <a:tbl>
              <a:tblPr/>
              <a:tblGrid>
                <a:gridCol w="2508328">
                  <a:extLst>
                    <a:ext uri="{9D8B030D-6E8A-4147-A177-3AD203B41FA5}">
                      <a16:colId xmlns:a16="http://schemas.microsoft.com/office/drawing/2014/main" val="4058652793"/>
                    </a:ext>
                  </a:extLst>
                </a:gridCol>
                <a:gridCol w="1169423">
                  <a:extLst>
                    <a:ext uri="{9D8B030D-6E8A-4147-A177-3AD203B41FA5}">
                      <a16:colId xmlns:a16="http://schemas.microsoft.com/office/drawing/2014/main" val="1275212567"/>
                    </a:ext>
                  </a:extLst>
                </a:gridCol>
                <a:gridCol w="1491439">
                  <a:extLst>
                    <a:ext uri="{9D8B030D-6E8A-4147-A177-3AD203B41FA5}">
                      <a16:colId xmlns:a16="http://schemas.microsoft.com/office/drawing/2014/main" val="1033600786"/>
                    </a:ext>
                  </a:extLst>
                </a:gridCol>
                <a:gridCol w="3028071">
                  <a:extLst>
                    <a:ext uri="{9D8B030D-6E8A-4147-A177-3AD203B41FA5}">
                      <a16:colId xmlns:a16="http://schemas.microsoft.com/office/drawing/2014/main" val="4115219464"/>
                    </a:ext>
                  </a:extLst>
                </a:gridCol>
                <a:gridCol w="3321839">
                  <a:extLst>
                    <a:ext uri="{9D8B030D-6E8A-4147-A177-3AD203B41FA5}">
                      <a16:colId xmlns:a16="http://schemas.microsoft.com/office/drawing/2014/main" val="468487202"/>
                    </a:ext>
                  </a:extLst>
                </a:gridCol>
              </a:tblGrid>
              <a:tr h="301889">
                <a:tc gridSpan="5"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prod (Attrition v1.0) New users,  prod customers 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8190264"/>
                  </a:ext>
                </a:extLst>
              </a:tr>
              <a:tr h="52895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Attrition groups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Attrition rate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 Avg Time to attrition (in months)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Actual Avg Time to attrition for resigned (in months)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141014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Very low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22.7%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15.0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0.0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3164974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185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9D9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28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CE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884596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Average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159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D8D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8.6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88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F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860351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1080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21.5%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A0A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99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5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261861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Very high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638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25.2%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2.9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9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36601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325B2E5-9E21-3971-BCDF-3208BDB15D2E}"/>
              </a:ext>
            </a:extLst>
          </p:cNvPr>
          <p:cNvSpPr txBox="1"/>
          <p:nvPr/>
        </p:nvSpPr>
        <p:spPr>
          <a:xfrm>
            <a:off x="10460182" y="1178978"/>
            <a:ext cx="1731818" cy="366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Jun – Aug 2025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C2318F-4F30-2A65-DE8F-DC95E1405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643386"/>
              </p:ext>
            </p:extLst>
          </p:nvPr>
        </p:nvGraphicFramePr>
        <p:xfrm>
          <a:off x="336448" y="3859871"/>
          <a:ext cx="11569558" cy="2259495"/>
        </p:xfrm>
        <a:graphic>
          <a:graphicData uri="http://schemas.openxmlformats.org/drawingml/2006/table">
            <a:tbl>
              <a:tblPr/>
              <a:tblGrid>
                <a:gridCol w="2446135">
                  <a:extLst>
                    <a:ext uri="{9D8B030D-6E8A-4147-A177-3AD203B41FA5}">
                      <a16:colId xmlns:a16="http://schemas.microsoft.com/office/drawing/2014/main" val="909083653"/>
                    </a:ext>
                  </a:extLst>
                </a:gridCol>
                <a:gridCol w="1249090">
                  <a:extLst>
                    <a:ext uri="{9D8B030D-6E8A-4147-A177-3AD203B41FA5}">
                      <a16:colId xmlns:a16="http://schemas.microsoft.com/office/drawing/2014/main" val="835857702"/>
                    </a:ext>
                  </a:extLst>
                </a:gridCol>
                <a:gridCol w="1468582">
                  <a:extLst>
                    <a:ext uri="{9D8B030D-6E8A-4147-A177-3AD203B41FA5}">
                      <a16:colId xmlns:a16="http://schemas.microsoft.com/office/drawing/2014/main" val="400746082"/>
                    </a:ext>
                  </a:extLst>
                </a:gridCol>
                <a:gridCol w="3034145">
                  <a:extLst>
                    <a:ext uri="{9D8B030D-6E8A-4147-A177-3AD203B41FA5}">
                      <a16:colId xmlns:a16="http://schemas.microsoft.com/office/drawing/2014/main" val="4207406428"/>
                    </a:ext>
                  </a:extLst>
                </a:gridCol>
                <a:gridCol w="3371606">
                  <a:extLst>
                    <a:ext uri="{9D8B030D-6E8A-4147-A177-3AD203B41FA5}">
                      <a16:colId xmlns:a16="http://schemas.microsoft.com/office/drawing/2014/main" val="4166393427"/>
                    </a:ext>
                  </a:extLst>
                </a:gridCol>
              </a:tblGrid>
              <a:tr h="283497">
                <a:tc gridSpan="5"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SG" sz="1600" b="1" i="0" u="none" strike="noStrike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backscored</a:t>
                      </a:r>
                      <a:r>
                        <a:rPr lang="en-SG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(Attrition v2.0) New users,  prod customers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5A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290645"/>
                  </a:ext>
                </a:extLst>
              </a:tr>
              <a:tr h="49672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Attrition groups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Attrition rate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 Avg Time to attrition (in months)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Avg Time to attrition for resigned (in months)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2321512"/>
                  </a:ext>
                </a:extLst>
              </a:tr>
              <a:tr h="283497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Very low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264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20.8%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1D4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15.0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827829"/>
                  </a:ext>
                </a:extLst>
              </a:tr>
              <a:tr h="283497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216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C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D18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B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254983"/>
                  </a:ext>
                </a:extLst>
              </a:tr>
              <a:tr h="283497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Average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615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7.9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8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5068327"/>
                  </a:ext>
                </a:extLst>
              </a:tr>
              <a:tr h="283497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890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22.7%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909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5.2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69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7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2912739"/>
                  </a:ext>
                </a:extLst>
              </a:tr>
              <a:tr h="283497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Very high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24.6%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9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09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FD18F7-08B9-7D19-6319-B769F1322700}"/>
              </a:ext>
            </a:extLst>
          </p:cNvPr>
          <p:cNvSpPr txBox="1"/>
          <p:nvPr/>
        </p:nvSpPr>
        <p:spPr>
          <a:xfrm>
            <a:off x="323289" y="6346227"/>
            <a:ext cx="8548106" cy="46166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Attrition Model v1.0 = First version of Attrition model that went live in June 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Attrition Model v2.0 = Second version of Attrition model with the Employment start date fix, which went live in January 2026</a:t>
            </a:r>
          </a:p>
        </p:txBody>
      </p:sp>
    </p:spTree>
    <p:extLst>
      <p:ext uri="{BB962C8B-B14F-4D97-AF65-F5344CB8AC3E}">
        <p14:creationId xmlns:p14="http://schemas.microsoft.com/office/powerpoint/2010/main" val="3874467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AF9B4-88C8-18DC-42C4-785D1AEC4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96D11153-20F5-2CFA-D368-7EBE24FF57BE}"/>
              </a:ext>
            </a:extLst>
          </p:cNvPr>
          <p:cNvSpPr>
            <a:spLocks noGrp="1"/>
          </p:cNvSpPr>
          <p:nvPr/>
        </p:nvSpPr>
        <p:spPr>
          <a:xfrm>
            <a:off x="271117" y="-1557"/>
            <a:ext cx="11796192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We did rank order sanity checks to get a feel if our Attrition model is directionally correct or not  - for 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Existing Users attrition rate monotonic, but only early </a:t>
            </a:r>
            <a:r>
              <a:rPr lang="en-SG" sz="2800">
                <a:solidFill>
                  <a:prstClr val="black"/>
                </a:solidFill>
                <a:latin typeface="Aptos Display" panose="02110004020202020204"/>
              </a:rPr>
              <a:t>resignations</a:t>
            </a:r>
            <a:endParaRPr lang="en-SG" sz="2800" b="1" i="0" u="none" strike="noStrike" kern="1200" cap="none" spc="-9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F01F655-F152-D9AB-5825-EE23DA1B6F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6271747"/>
              </p:ext>
            </p:extLst>
          </p:nvPr>
        </p:nvGraphicFramePr>
        <p:xfrm>
          <a:off x="336447" y="1231874"/>
          <a:ext cx="11569557" cy="2288575"/>
        </p:xfrm>
        <a:graphic>
          <a:graphicData uri="http://schemas.openxmlformats.org/drawingml/2006/table">
            <a:tbl>
              <a:tblPr/>
              <a:tblGrid>
                <a:gridCol w="2519315">
                  <a:extLst>
                    <a:ext uri="{9D8B030D-6E8A-4147-A177-3AD203B41FA5}">
                      <a16:colId xmlns:a16="http://schemas.microsoft.com/office/drawing/2014/main" val="3304612892"/>
                    </a:ext>
                  </a:extLst>
                </a:gridCol>
                <a:gridCol w="1174545">
                  <a:extLst>
                    <a:ext uri="{9D8B030D-6E8A-4147-A177-3AD203B41FA5}">
                      <a16:colId xmlns:a16="http://schemas.microsoft.com/office/drawing/2014/main" val="1718319183"/>
                    </a:ext>
                  </a:extLst>
                </a:gridCol>
                <a:gridCol w="1497972">
                  <a:extLst>
                    <a:ext uri="{9D8B030D-6E8A-4147-A177-3AD203B41FA5}">
                      <a16:colId xmlns:a16="http://schemas.microsoft.com/office/drawing/2014/main" val="2932407975"/>
                    </a:ext>
                  </a:extLst>
                </a:gridCol>
                <a:gridCol w="3041335">
                  <a:extLst>
                    <a:ext uri="{9D8B030D-6E8A-4147-A177-3AD203B41FA5}">
                      <a16:colId xmlns:a16="http://schemas.microsoft.com/office/drawing/2014/main" val="1189579921"/>
                    </a:ext>
                  </a:extLst>
                </a:gridCol>
                <a:gridCol w="3336390">
                  <a:extLst>
                    <a:ext uri="{9D8B030D-6E8A-4147-A177-3AD203B41FA5}">
                      <a16:colId xmlns:a16="http://schemas.microsoft.com/office/drawing/2014/main" val="1514067382"/>
                    </a:ext>
                  </a:extLst>
                </a:gridCol>
              </a:tblGrid>
              <a:tr h="289313">
                <a:tc gridSpan="5"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prod (Attrition v1.0) Existing users,  prod customers 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8081579"/>
                  </a:ext>
                </a:extLst>
              </a:tr>
              <a:tr h="50699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Attrition groups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Attrition rate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 Avg Time to attrition (in months)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Avg Time to attrition for resigned (in months)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05012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Very low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  8,954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12.9%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15.0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7330251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  5,054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13.0%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18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462537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Average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13,288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16.4%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E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B8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971937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  8,261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23.7%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E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5.5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59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556659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Very high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    127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38.6%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9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CC8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579615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E8C9CA9-42BD-8BF3-EB9F-89FC04E47837}"/>
              </a:ext>
            </a:extLst>
          </p:cNvPr>
          <p:cNvSpPr txBox="1"/>
          <p:nvPr/>
        </p:nvSpPr>
        <p:spPr>
          <a:xfrm>
            <a:off x="10002983" y="1170737"/>
            <a:ext cx="218901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Jul 2025 snapshot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75EF8CB-B205-FF0A-2D0A-8FAA916CDC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073165"/>
              </p:ext>
            </p:extLst>
          </p:nvPr>
        </p:nvGraphicFramePr>
        <p:xfrm>
          <a:off x="336446" y="3908806"/>
          <a:ext cx="11569558" cy="2142630"/>
        </p:xfrm>
        <a:graphic>
          <a:graphicData uri="http://schemas.openxmlformats.org/drawingml/2006/table">
            <a:tbl>
              <a:tblPr/>
              <a:tblGrid>
                <a:gridCol w="2446135">
                  <a:extLst>
                    <a:ext uri="{9D8B030D-6E8A-4147-A177-3AD203B41FA5}">
                      <a16:colId xmlns:a16="http://schemas.microsoft.com/office/drawing/2014/main" val="1980354021"/>
                    </a:ext>
                  </a:extLst>
                </a:gridCol>
                <a:gridCol w="1249092">
                  <a:extLst>
                    <a:ext uri="{9D8B030D-6E8A-4147-A177-3AD203B41FA5}">
                      <a16:colId xmlns:a16="http://schemas.microsoft.com/office/drawing/2014/main" val="2734361357"/>
                    </a:ext>
                  </a:extLst>
                </a:gridCol>
                <a:gridCol w="1482436">
                  <a:extLst>
                    <a:ext uri="{9D8B030D-6E8A-4147-A177-3AD203B41FA5}">
                      <a16:colId xmlns:a16="http://schemas.microsoft.com/office/drawing/2014/main" val="2063859830"/>
                    </a:ext>
                  </a:extLst>
                </a:gridCol>
                <a:gridCol w="3168947">
                  <a:extLst>
                    <a:ext uri="{9D8B030D-6E8A-4147-A177-3AD203B41FA5}">
                      <a16:colId xmlns:a16="http://schemas.microsoft.com/office/drawing/2014/main" val="2499791800"/>
                    </a:ext>
                  </a:extLst>
                </a:gridCol>
                <a:gridCol w="3222948">
                  <a:extLst>
                    <a:ext uri="{9D8B030D-6E8A-4147-A177-3AD203B41FA5}">
                      <a16:colId xmlns:a16="http://schemas.microsoft.com/office/drawing/2014/main" val="2812363195"/>
                    </a:ext>
                  </a:extLst>
                </a:gridCol>
              </a:tblGrid>
              <a:tr h="260124">
                <a:tc gridSpan="5"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SG" sz="1600" b="1" i="0" u="none" strike="noStrike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backscored</a:t>
                      </a:r>
                      <a:r>
                        <a:rPr lang="en-SG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 (Attrition v2.0) Existing users,  prod customers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5A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14429"/>
                  </a:ext>
                </a:extLst>
              </a:tr>
              <a:tr h="45577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Attrition groups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Attrition rate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 Avg Time to attrition (in months)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SG" sz="16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Avg Time to attrition for resigned (in months)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242789"/>
                  </a:ext>
                </a:extLst>
              </a:tr>
              <a:tr h="260124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Very low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  8,932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12.4%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15.0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D5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1682472"/>
                  </a:ext>
                </a:extLst>
              </a:tr>
              <a:tr h="260124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  5,056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11.9%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18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6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40036"/>
                  </a:ext>
                </a:extLst>
              </a:tr>
              <a:tr h="260124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Average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13,023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14.8%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B8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145944"/>
                  </a:ext>
                </a:extLst>
              </a:tr>
              <a:tr h="260124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  7,877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20.8%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C7C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5.5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59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3009044"/>
                  </a:ext>
                </a:extLst>
              </a:tr>
              <a:tr h="260124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Very high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            103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32.0%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9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t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80693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AAB2BD6-34D8-4494-7CF2-0698BB8CB33A}"/>
              </a:ext>
            </a:extLst>
          </p:cNvPr>
          <p:cNvSpPr txBox="1"/>
          <p:nvPr/>
        </p:nvSpPr>
        <p:spPr>
          <a:xfrm>
            <a:off x="323289" y="6346227"/>
            <a:ext cx="8548106" cy="46166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Attrition Model v1.0 = First version of Attrition model that went live in June 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Attrition Model v2.0 = Second version of Attrition model with the Employment start date fix, which went live in January 2026</a:t>
            </a:r>
          </a:p>
        </p:txBody>
      </p:sp>
    </p:spTree>
    <p:extLst>
      <p:ext uri="{BB962C8B-B14F-4D97-AF65-F5344CB8AC3E}">
        <p14:creationId xmlns:p14="http://schemas.microsoft.com/office/powerpoint/2010/main" val="1174518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96B0C-FDD2-D8FB-636E-F3805F353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B3D8AC2B-4676-C140-8C49-B3E10DBA5181}"/>
              </a:ext>
            </a:extLst>
          </p:cNvPr>
          <p:cNvSpPr>
            <a:spLocks noGrp="1"/>
          </p:cNvSpPr>
          <p:nvPr/>
        </p:nvSpPr>
        <p:spPr>
          <a:xfrm>
            <a:off x="271117" y="-1557"/>
            <a:ext cx="11796192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We also compared month-over-month 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Unit Bad Rate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comparison from 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New Customers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who were onboarded by Scorecard 1.0 vs Scorecard 2.0</a:t>
            </a:r>
            <a:endParaRPr kumimoji="0" lang="en-SG" sz="2800" b="1" i="0" u="none" strike="noStrike" kern="1200" cap="none" spc="-9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1991320-E15F-1BB6-A433-BDE2295CCE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424712"/>
              </p:ext>
            </p:extLst>
          </p:nvPr>
        </p:nvGraphicFramePr>
        <p:xfrm>
          <a:off x="320167" y="4283848"/>
          <a:ext cx="11534535" cy="2210571"/>
        </p:xfrm>
        <a:graphic>
          <a:graphicData uri="http://schemas.openxmlformats.org/drawingml/2006/table">
            <a:tbl>
              <a:tblPr/>
              <a:tblGrid>
                <a:gridCol w="1077684">
                  <a:extLst>
                    <a:ext uri="{9D8B030D-6E8A-4147-A177-3AD203B41FA5}">
                      <a16:colId xmlns:a16="http://schemas.microsoft.com/office/drawing/2014/main" val="1094627951"/>
                    </a:ext>
                  </a:extLst>
                </a:gridCol>
                <a:gridCol w="1861457">
                  <a:extLst>
                    <a:ext uri="{9D8B030D-6E8A-4147-A177-3AD203B41FA5}">
                      <a16:colId xmlns:a16="http://schemas.microsoft.com/office/drawing/2014/main" val="391764085"/>
                    </a:ext>
                  </a:extLst>
                </a:gridCol>
                <a:gridCol w="2277834">
                  <a:extLst>
                    <a:ext uri="{9D8B030D-6E8A-4147-A177-3AD203B41FA5}">
                      <a16:colId xmlns:a16="http://schemas.microsoft.com/office/drawing/2014/main" val="1915037620"/>
                    </a:ext>
                  </a:extLst>
                </a:gridCol>
                <a:gridCol w="1987657">
                  <a:extLst>
                    <a:ext uri="{9D8B030D-6E8A-4147-A177-3AD203B41FA5}">
                      <a16:colId xmlns:a16="http://schemas.microsoft.com/office/drawing/2014/main" val="1376342491"/>
                    </a:ext>
                  </a:extLst>
                </a:gridCol>
                <a:gridCol w="2069022">
                  <a:extLst>
                    <a:ext uri="{9D8B030D-6E8A-4147-A177-3AD203B41FA5}">
                      <a16:colId xmlns:a16="http://schemas.microsoft.com/office/drawing/2014/main" val="2143874066"/>
                    </a:ext>
                  </a:extLst>
                </a:gridCol>
                <a:gridCol w="2260881">
                  <a:extLst>
                    <a:ext uri="{9D8B030D-6E8A-4147-A177-3AD203B41FA5}">
                      <a16:colId xmlns:a16="http://schemas.microsoft.com/office/drawing/2014/main" val="1597796762"/>
                    </a:ext>
                  </a:extLst>
                </a:gridCol>
              </a:tblGrid>
              <a:tr h="251466"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SG" sz="1300" b="1" kern="1200" dirty="0" err="1">
                          <a:solidFill>
                            <a:schemeClr val="dk1"/>
                          </a:solidFill>
                          <a:effectLst/>
                          <a:latin typeface="Aptos Narrow"/>
                          <a:ea typeface="+mn-ea"/>
                          <a:cs typeface="+mn-cs"/>
                        </a:rPr>
                        <a:t>Onboarding_month</a:t>
                      </a:r>
                      <a:endParaRPr lang="en-SG" sz="1300" b="1" kern="1200" dirty="0">
                        <a:solidFill>
                          <a:schemeClr val="dk1"/>
                        </a:solidFill>
                        <a:effectLst/>
                        <a:latin typeface="Aptos Narrow"/>
                        <a:ea typeface="+mn-ea"/>
                        <a:cs typeface="+mn-cs"/>
                      </a:endParaRPr>
                    </a:p>
                  </a:txBody>
                  <a:tcPr marL="9322" marR="9322" marT="9322" marB="44747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SG" sz="1300" b="1" kern="1200">
                          <a:solidFill>
                            <a:schemeClr val="dk1"/>
                          </a:solidFill>
                          <a:effectLst/>
                          <a:latin typeface="Aptos Narrow"/>
                          <a:ea typeface="+mn-ea"/>
                          <a:cs typeface="+mn-cs"/>
                        </a:rPr>
                        <a:t>cnt_onboarded_with_SC2</a:t>
                      </a:r>
                    </a:p>
                  </a:txBody>
                  <a:tcPr marL="9322" marR="9322" marT="9322" marB="44747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SG" sz="1300" b="1" kern="1200">
                          <a:solidFill>
                            <a:schemeClr val="dk1"/>
                          </a:solidFill>
                          <a:effectLst/>
                          <a:latin typeface="Aptos Narrow"/>
                          <a:ea typeface="+mn-ea"/>
                          <a:cs typeface="+mn-cs"/>
                        </a:rPr>
                        <a:t>cnt_left_job_within_Jan_2026</a:t>
                      </a:r>
                    </a:p>
                  </a:txBody>
                  <a:tcPr marL="9322" marR="9322" marT="9322" marB="44747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SG" sz="1300" b="1" kern="1200" err="1">
                          <a:solidFill>
                            <a:schemeClr val="dk1"/>
                          </a:solidFill>
                          <a:effectLst/>
                          <a:latin typeface="Aptos Narrow"/>
                          <a:ea typeface="+mn-ea"/>
                          <a:cs typeface="+mn-cs"/>
                        </a:rPr>
                        <a:t>cnt_had_oop_outstanding</a:t>
                      </a:r>
                    </a:p>
                  </a:txBody>
                  <a:tcPr marL="9322" marR="9322" marT="9322" marB="44747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SG" sz="1300" b="1" kern="1200">
                          <a:solidFill>
                            <a:schemeClr val="dk1"/>
                          </a:solidFill>
                          <a:effectLst/>
                          <a:latin typeface="Aptos Narrow"/>
                          <a:ea typeface="+mn-ea"/>
                          <a:cs typeface="+mn-cs"/>
                        </a:rPr>
                        <a:t>cnt_oop_flag_bad_fpd30</a:t>
                      </a:r>
                    </a:p>
                  </a:txBody>
                  <a:tcPr marL="9322" marR="9322" marT="9322" marB="44747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SG" sz="1300" b="1" kern="1200" err="1">
                          <a:solidFill>
                            <a:schemeClr val="dk1"/>
                          </a:solidFill>
                          <a:effectLst/>
                          <a:latin typeface="Aptos Narrow"/>
                          <a:ea typeface="+mn-ea"/>
                          <a:cs typeface="+mn-cs"/>
                        </a:rPr>
                        <a:t>unit_rate_of_all_who_left_job</a:t>
                      </a:r>
                      <a:endParaRPr lang="en-SG" sz="1300" b="1" kern="1200">
                        <a:solidFill>
                          <a:schemeClr val="dk1"/>
                        </a:solidFill>
                        <a:effectLst/>
                        <a:latin typeface="Aptos Narrow"/>
                        <a:ea typeface="+mn-ea"/>
                        <a:cs typeface="+mn-cs"/>
                      </a:endParaRPr>
                    </a:p>
                  </a:txBody>
                  <a:tcPr marL="9322" marR="9322" marT="9322" marB="44747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6648676"/>
                  </a:ext>
                </a:extLst>
              </a:tr>
              <a:tr h="2514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3167506"/>
                  </a:ext>
                </a:extLst>
              </a:tr>
              <a:tr h="2514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602560"/>
                  </a:ext>
                </a:extLst>
              </a:tr>
              <a:tr h="2514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02276"/>
                  </a:ext>
                </a:extLst>
              </a:tr>
              <a:tr h="2514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186130"/>
                  </a:ext>
                </a:extLst>
              </a:tr>
              <a:tr h="2514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026522"/>
                  </a:ext>
                </a:extLst>
              </a:tr>
              <a:tr h="2514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65.0%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2013568"/>
                  </a:ext>
                </a:extLst>
              </a:tr>
              <a:tr h="2514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1079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7301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0BC94D2-4A7C-9DEF-CEB6-F9573ED4C0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8246567"/>
              </p:ext>
            </p:extLst>
          </p:nvPr>
        </p:nvGraphicFramePr>
        <p:xfrm>
          <a:off x="320167" y="1427949"/>
          <a:ext cx="11497412" cy="217170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2225">
                  <a:extLst>
                    <a:ext uri="{9D8B030D-6E8A-4147-A177-3AD203B41FA5}">
                      <a16:colId xmlns:a16="http://schemas.microsoft.com/office/drawing/2014/main" val="221956188"/>
                    </a:ext>
                  </a:extLst>
                </a:gridCol>
                <a:gridCol w="1887771">
                  <a:extLst>
                    <a:ext uri="{9D8B030D-6E8A-4147-A177-3AD203B41FA5}">
                      <a16:colId xmlns:a16="http://schemas.microsoft.com/office/drawing/2014/main" val="2090061161"/>
                    </a:ext>
                  </a:extLst>
                </a:gridCol>
                <a:gridCol w="2270167">
                  <a:extLst>
                    <a:ext uri="{9D8B030D-6E8A-4147-A177-3AD203B41FA5}">
                      <a16:colId xmlns:a16="http://schemas.microsoft.com/office/drawing/2014/main" val="583123118"/>
                    </a:ext>
                  </a:extLst>
                </a:gridCol>
                <a:gridCol w="1964410">
                  <a:extLst>
                    <a:ext uri="{9D8B030D-6E8A-4147-A177-3AD203B41FA5}">
                      <a16:colId xmlns:a16="http://schemas.microsoft.com/office/drawing/2014/main" val="4248297310"/>
                    </a:ext>
                  </a:extLst>
                </a:gridCol>
                <a:gridCol w="2034150">
                  <a:extLst>
                    <a:ext uri="{9D8B030D-6E8A-4147-A177-3AD203B41FA5}">
                      <a16:colId xmlns:a16="http://schemas.microsoft.com/office/drawing/2014/main" val="3532273152"/>
                    </a:ext>
                  </a:extLst>
                </a:gridCol>
                <a:gridCol w="2298689">
                  <a:extLst>
                    <a:ext uri="{9D8B030D-6E8A-4147-A177-3AD203B41FA5}">
                      <a16:colId xmlns:a16="http://schemas.microsoft.com/office/drawing/2014/main" val="47473645"/>
                    </a:ext>
                  </a:extLst>
                </a:gridCol>
              </a:tblGrid>
              <a:tr h="43298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dirty="0" err="1">
                          <a:effectLst/>
                          <a:latin typeface="Aptos Narrow"/>
                        </a:rPr>
                        <a:t>onboarding_month</a:t>
                      </a:r>
                      <a:endParaRPr lang="en-GB" sz="1300" b="1" dirty="0">
                        <a:effectLst/>
                        <a:latin typeface="Aptos Narrow"/>
                      </a:endParaRP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dirty="0">
                          <a:effectLst/>
                          <a:latin typeface="Aptos Narrow"/>
                        </a:rPr>
                        <a:t>cnt_onboarded_with_SC1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>
                          <a:effectLst/>
                          <a:latin typeface="Aptos Narrow"/>
                        </a:rPr>
                        <a:t>cnt_left_job_within_jan_2026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err="1">
                          <a:effectLst/>
                          <a:latin typeface="Aptos Narrow"/>
                        </a:rPr>
                        <a:t>cnt_had_oop_outstanding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err="1">
                          <a:effectLst/>
                          <a:latin typeface="Aptos Narrow"/>
                        </a:rPr>
                        <a:t>cnt_oop_flag_bad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err="1">
                          <a:effectLst/>
                          <a:latin typeface="Aptos Narrow"/>
                        </a:rPr>
                        <a:t>unit_rate_of_all_who_left_job</a:t>
                      </a:r>
                    </a:p>
                  </a:txBody>
                  <a:tcPr marL="9525" marR="9525" marT="9525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9527871"/>
                  </a:ext>
                </a:extLst>
              </a:tr>
              <a:tr h="2457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5302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66.0%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989834"/>
                  </a:ext>
                </a:extLst>
              </a:tr>
              <a:tr h="2457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4567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66.0%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6015503"/>
                  </a:ext>
                </a:extLst>
              </a:tr>
              <a:tr h="2457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4039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63.0%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8255821"/>
                  </a:ext>
                </a:extLst>
              </a:tr>
              <a:tr h="2457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8610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627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70.0%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8728861"/>
                  </a:ext>
                </a:extLst>
              </a:tr>
              <a:tr h="2457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12346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716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74.0%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498349"/>
                  </a:ext>
                </a:extLst>
              </a:tr>
              <a:tr h="2457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7892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73.0%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1520206"/>
                  </a:ext>
                </a:extLst>
              </a:tr>
              <a:tr h="2457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8592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51.0%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4845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61D61CA-C397-79E0-9A9D-CE1F4BBEE2BF}"/>
              </a:ext>
            </a:extLst>
          </p:cNvPr>
          <p:cNvSpPr txBox="1"/>
          <p:nvPr/>
        </p:nvSpPr>
        <p:spPr>
          <a:xfrm>
            <a:off x="295490" y="1055478"/>
            <a:ext cx="5128157" cy="369332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Customers who onboarded with Scorecard 1.0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330540-48FB-2225-F842-04CB192FDCB0}"/>
              </a:ext>
            </a:extLst>
          </p:cNvPr>
          <p:cNvSpPr txBox="1"/>
          <p:nvPr/>
        </p:nvSpPr>
        <p:spPr>
          <a:xfrm>
            <a:off x="308296" y="3911376"/>
            <a:ext cx="5108946" cy="369332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Customers who onboarded with Scorecard 2.0</a:t>
            </a:r>
          </a:p>
        </p:txBody>
      </p:sp>
    </p:spTree>
    <p:extLst>
      <p:ext uri="{BB962C8B-B14F-4D97-AF65-F5344CB8AC3E}">
        <p14:creationId xmlns:p14="http://schemas.microsoft.com/office/powerpoint/2010/main" val="3243404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39978-3EEF-C0B8-AA80-5C4C46D50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A4350C56-3A74-F61F-6148-C75CE976F012}"/>
              </a:ext>
            </a:extLst>
          </p:cNvPr>
          <p:cNvSpPr>
            <a:spLocks noGrp="1"/>
          </p:cNvSpPr>
          <p:nvPr/>
        </p:nvSpPr>
        <p:spPr>
          <a:xfrm>
            <a:off x="271117" y="-1557"/>
            <a:ext cx="11796192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We also compared month-over-month 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Peso Bad Rate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comparison from 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New Customers</a:t>
            </a: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who were onboarded by Scorecard 1.0 vs Scorecard 2.0</a:t>
            </a:r>
            <a:endParaRPr kumimoji="0" lang="en-SG" sz="2800" b="1" i="0" u="none" strike="noStrike" kern="1200" cap="none" spc="-9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5AD8AE-7564-004D-D704-AD637C0EB4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559324"/>
              </p:ext>
            </p:extLst>
          </p:nvPr>
        </p:nvGraphicFramePr>
        <p:xfrm>
          <a:off x="322595" y="4397038"/>
          <a:ext cx="11546803" cy="2424527"/>
        </p:xfrm>
        <a:graphic>
          <a:graphicData uri="http://schemas.openxmlformats.org/drawingml/2006/table">
            <a:tbl>
              <a:tblPr/>
              <a:tblGrid>
                <a:gridCol w="979732">
                  <a:extLst>
                    <a:ext uri="{9D8B030D-6E8A-4147-A177-3AD203B41FA5}">
                      <a16:colId xmlns:a16="http://schemas.microsoft.com/office/drawing/2014/main" val="3586708774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1048959413"/>
                    </a:ext>
                  </a:extLst>
                </a:gridCol>
                <a:gridCol w="2045153">
                  <a:extLst>
                    <a:ext uri="{9D8B030D-6E8A-4147-A177-3AD203B41FA5}">
                      <a16:colId xmlns:a16="http://schemas.microsoft.com/office/drawing/2014/main" val="1805691401"/>
                    </a:ext>
                  </a:extLst>
                </a:gridCol>
                <a:gridCol w="2596241">
                  <a:extLst>
                    <a:ext uri="{9D8B030D-6E8A-4147-A177-3AD203B41FA5}">
                      <a16:colId xmlns:a16="http://schemas.microsoft.com/office/drawing/2014/main" val="2000493968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397865903"/>
                    </a:ext>
                  </a:extLst>
                </a:gridCol>
                <a:gridCol w="1629902">
                  <a:extLst>
                    <a:ext uri="{9D8B030D-6E8A-4147-A177-3AD203B41FA5}">
                      <a16:colId xmlns:a16="http://schemas.microsoft.com/office/drawing/2014/main" val="2960901779"/>
                    </a:ext>
                  </a:extLst>
                </a:gridCol>
              </a:tblGrid>
              <a:tr h="363765"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SG" sz="1300" b="1" i="0" u="none" strike="noStrike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Onboarding_month</a:t>
                      </a:r>
                      <a:endParaRPr lang="en-SG" sz="13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40" marR="7540" marT="7540" marB="36191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SG" sz="1300" b="1" i="0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tot_cl_amt_onboarded_with_sc2</a:t>
                      </a:r>
                    </a:p>
                  </a:txBody>
                  <a:tcPr marL="7540" marR="7540" marT="7540" marB="36191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SG" sz="1300" b="1" i="0" u="none" strike="noStrike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tot_os_principal_amt_as_of_resignation_dt</a:t>
                      </a:r>
                    </a:p>
                  </a:txBody>
                  <a:tcPr marL="7540" marR="7540" marT="7540" marB="36191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SG" sz="1300" b="1" i="0" u="none" strike="noStrike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tot_os_principal_amt_as_of_oop_eligible_dt</a:t>
                      </a:r>
                    </a:p>
                  </a:txBody>
                  <a:tcPr marL="7540" marR="7540" marT="7540" marB="36191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SG" sz="1300" b="1" i="0" u="none" strike="noStrike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tot_os_principal_amt_from_bad_customers</a:t>
                      </a:r>
                    </a:p>
                  </a:txBody>
                  <a:tcPr marL="7540" marR="7540" marT="7540" marB="36191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SG" sz="1300" b="1" i="0" u="none" strike="noStrike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Outstanding_bad_rate</a:t>
                      </a:r>
                      <a:endParaRPr lang="en-SG" sz="13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40" marR="7540" marT="7540" marB="36191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785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3091999"/>
                  </a:ext>
                </a:extLst>
              </a:tr>
              <a:tr h="283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5,48,439.00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  2,33,810.41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2,01,708.11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1,11,870.43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47.8%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908484"/>
                  </a:ext>
                </a:extLst>
              </a:tr>
              <a:tr h="283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31,74,333.50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11,28,698.14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10,32,891.72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7,64,730.91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67.8%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42683"/>
                  </a:ext>
                </a:extLst>
              </a:tr>
              <a:tr h="283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21,78,571.00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  7,67,525.40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8,31,600.72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7,43,934.59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96.9%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157783"/>
                  </a:ext>
                </a:extLst>
              </a:tr>
              <a:tr h="283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23,82,031.00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  9,42,562.47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9,50,550.11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6,79,417.82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72.1%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895467"/>
                  </a:ext>
                </a:extLst>
              </a:tr>
              <a:tr h="283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14,04,889.00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  4,28,865.80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3,69,538.54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3,00,085.76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17568"/>
                  </a:ext>
                </a:extLst>
              </a:tr>
              <a:tr h="283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16,58,608.00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  4,06,939.80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4,41,083.47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4,06,528.20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99.9%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8875925"/>
                  </a:ext>
                </a:extLst>
              </a:tr>
              <a:tr h="283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6,90,136.00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  1,28,042.46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 1,32,374.08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                  1,02,179.73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79.8%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0393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2704D4-2F1F-1260-52B6-74BD11C46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9477818"/>
              </p:ext>
            </p:extLst>
          </p:nvPr>
        </p:nvGraphicFramePr>
        <p:xfrm>
          <a:off x="320168" y="1478149"/>
          <a:ext cx="11521915" cy="178498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4449">
                  <a:extLst>
                    <a:ext uri="{9D8B030D-6E8A-4147-A177-3AD203B41FA5}">
                      <a16:colId xmlns:a16="http://schemas.microsoft.com/office/drawing/2014/main" val="690660560"/>
                    </a:ext>
                  </a:extLst>
                </a:gridCol>
                <a:gridCol w="1873703">
                  <a:extLst>
                    <a:ext uri="{9D8B030D-6E8A-4147-A177-3AD203B41FA5}">
                      <a16:colId xmlns:a16="http://schemas.microsoft.com/office/drawing/2014/main" val="3326841909"/>
                    </a:ext>
                  </a:extLst>
                </a:gridCol>
                <a:gridCol w="2045153">
                  <a:extLst>
                    <a:ext uri="{9D8B030D-6E8A-4147-A177-3AD203B41FA5}">
                      <a16:colId xmlns:a16="http://schemas.microsoft.com/office/drawing/2014/main" val="3643423258"/>
                    </a:ext>
                  </a:extLst>
                </a:gridCol>
                <a:gridCol w="2589705">
                  <a:extLst>
                    <a:ext uri="{9D8B030D-6E8A-4147-A177-3AD203B41FA5}">
                      <a16:colId xmlns:a16="http://schemas.microsoft.com/office/drawing/2014/main" val="3922206027"/>
                    </a:ext>
                  </a:extLst>
                </a:gridCol>
                <a:gridCol w="2330770">
                  <a:extLst>
                    <a:ext uri="{9D8B030D-6E8A-4147-A177-3AD203B41FA5}">
                      <a16:colId xmlns:a16="http://schemas.microsoft.com/office/drawing/2014/main" val="3373208269"/>
                    </a:ext>
                  </a:extLst>
                </a:gridCol>
                <a:gridCol w="1638135">
                  <a:extLst>
                    <a:ext uri="{9D8B030D-6E8A-4147-A177-3AD203B41FA5}">
                      <a16:colId xmlns:a16="http://schemas.microsoft.com/office/drawing/2014/main" val="415410811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err="1">
                          <a:effectLst/>
                          <a:latin typeface="Calibri"/>
                        </a:rPr>
                        <a:t>onboarding_month</a:t>
                      </a:r>
                    </a:p>
                  </a:txBody>
                  <a:tcPr marL="9525" marR="9525" marT="9525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>
                          <a:effectLst/>
                          <a:latin typeface="Calibri"/>
                        </a:rPr>
                        <a:t>tot_cl_amt_onboarded_with_1_0</a:t>
                      </a:r>
                    </a:p>
                  </a:txBody>
                  <a:tcPr marL="9525" marR="9525" marT="9525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err="1">
                          <a:effectLst/>
                          <a:latin typeface="Calibri"/>
                        </a:rPr>
                        <a:t>tot_os_principal_amt_as_of_resignation_date</a:t>
                      </a:r>
                    </a:p>
                  </a:txBody>
                  <a:tcPr marL="9525" marR="9525" marT="9525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err="1">
                          <a:effectLst/>
                          <a:latin typeface="Calibri"/>
                        </a:rPr>
                        <a:t>tot_os_principal_amt_as_of_oop_eligible_dt</a:t>
                      </a:r>
                    </a:p>
                  </a:txBody>
                  <a:tcPr marL="9525" marR="9525" marT="9525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err="1">
                          <a:effectLst/>
                          <a:latin typeface="Calibri"/>
                        </a:rPr>
                        <a:t>tot_os_principal_amt_from_bad_customers</a:t>
                      </a:r>
                    </a:p>
                  </a:txBody>
                  <a:tcPr marL="9525" marR="9525" marT="9525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300" b="1" err="1">
                          <a:effectLst/>
                          <a:latin typeface="Calibri"/>
                        </a:rPr>
                        <a:t>peso_rate_of_all_who_left_job</a:t>
                      </a:r>
                    </a:p>
                  </a:txBody>
                  <a:tcPr marL="9525" marR="9525" marT="9525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84372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18099479.5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6474457.974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5921354.878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4070457.023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62.9%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6699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15548592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4972060.677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5054510.805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3199942.62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64.4%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852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11426397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3531153.441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3552276.544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2572754.147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72.9%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66593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2025-09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17698526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8486248.565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8936645.286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6730109.54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79.3%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33360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24908159.5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13862360.49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15152954.72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11796839.1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85.1%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3086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13363094.5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7588288.72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8508873.48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6555535.547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86.4%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33912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2025-12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5370659.5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1739411.404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3017319.128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1739411.404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100.0%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1803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D1D155-F33B-BE7D-BD50-AA186E2A567A}"/>
              </a:ext>
            </a:extLst>
          </p:cNvPr>
          <p:cNvSpPr txBox="1"/>
          <p:nvPr/>
        </p:nvSpPr>
        <p:spPr>
          <a:xfrm>
            <a:off x="295490" y="1093898"/>
            <a:ext cx="5070526" cy="369332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Customers who onboarded with Scorecard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7A8BDD-DA78-CD94-DB2F-2A2A5BDF8BB3}"/>
              </a:ext>
            </a:extLst>
          </p:cNvPr>
          <p:cNvSpPr txBox="1"/>
          <p:nvPr/>
        </p:nvSpPr>
        <p:spPr>
          <a:xfrm>
            <a:off x="308296" y="4013830"/>
            <a:ext cx="5057719" cy="369332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Customers who onboarded with Scorecard 2.0</a:t>
            </a:r>
          </a:p>
        </p:txBody>
      </p:sp>
    </p:spTree>
    <p:extLst>
      <p:ext uri="{BB962C8B-B14F-4D97-AF65-F5344CB8AC3E}">
        <p14:creationId xmlns:p14="http://schemas.microsoft.com/office/powerpoint/2010/main" val="11332759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798B-82C3-661F-06DB-7C329EDB5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B370A4E6-F93C-7DB6-07D6-0E3487E7566B}"/>
              </a:ext>
            </a:extLst>
          </p:cNvPr>
          <p:cNvSpPr>
            <a:spLocks noGrp="1"/>
          </p:cNvSpPr>
          <p:nvPr/>
        </p:nvSpPr>
        <p:spPr>
          <a:xfrm>
            <a:off x="187168" y="-1557"/>
            <a:ext cx="11996378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Incremental Portfolio Exposure contributed by Credit Limit Expansion (CL+) program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B5EAC75-3A8A-638E-1F93-4754DC202922}"/>
              </a:ext>
            </a:extLst>
          </p:cNvPr>
          <p:cNvGraphicFramePr>
            <a:graphicFrameLocks noGrp="1"/>
          </p:cNvGraphicFramePr>
          <p:nvPr/>
        </p:nvGraphicFramePr>
        <p:xfrm>
          <a:off x="303508" y="761999"/>
          <a:ext cx="11501058" cy="79037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501058">
                  <a:extLst>
                    <a:ext uri="{9D8B030D-6E8A-4147-A177-3AD203B41FA5}">
                      <a16:colId xmlns:a16="http://schemas.microsoft.com/office/drawing/2014/main" val="2281628252"/>
                    </a:ext>
                  </a:extLst>
                </a:gridCol>
              </a:tblGrid>
              <a:tr h="790371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solidFill>
                            <a:srgbClr val="242424"/>
                          </a:solidFill>
                          <a:effectLst/>
                          <a:latin typeface="Aptos Narrow"/>
                        </a:rPr>
                        <a:t>Calculated the delta Credit Limit before and after the CL+ start date at Employee level, irrespective of whether the employee is on SC1.0 or SC2.0. Took only the Existing tendo users for this who were already onboarded before the CL+ launch date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99915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DD0F2C-3485-3665-42F8-2AC76C9B61EE}"/>
              </a:ext>
            </a:extLst>
          </p:cNvPr>
          <p:cNvGraphicFramePr>
            <a:graphicFrameLocks noGrp="1"/>
          </p:cNvGraphicFramePr>
          <p:nvPr/>
        </p:nvGraphicFramePr>
        <p:xfrm>
          <a:off x="390605" y="1985042"/>
          <a:ext cx="11345106" cy="288287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63484">
                  <a:extLst>
                    <a:ext uri="{9D8B030D-6E8A-4147-A177-3AD203B41FA5}">
                      <a16:colId xmlns:a16="http://schemas.microsoft.com/office/drawing/2014/main" val="1115926286"/>
                    </a:ext>
                  </a:extLst>
                </a:gridCol>
                <a:gridCol w="2106385">
                  <a:extLst>
                    <a:ext uri="{9D8B030D-6E8A-4147-A177-3AD203B41FA5}">
                      <a16:colId xmlns:a16="http://schemas.microsoft.com/office/drawing/2014/main" val="3406497131"/>
                    </a:ext>
                  </a:extLst>
                </a:gridCol>
                <a:gridCol w="2363560">
                  <a:extLst>
                    <a:ext uri="{9D8B030D-6E8A-4147-A177-3AD203B41FA5}">
                      <a16:colId xmlns:a16="http://schemas.microsoft.com/office/drawing/2014/main" val="2524053237"/>
                    </a:ext>
                  </a:extLst>
                </a:gridCol>
                <a:gridCol w="1983921">
                  <a:extLst>
                    <a:ext uri="{9D8B030D-6E8A-4147-A177-3AD203B41FA5}">
                      <a16:colId xmlns:a16="http://schemas.microsoft.com/office/drawing/2014/main" val="3241698955"/>
                    </a:ext>
                  </a:extLst>
                </a:gridCol>
                <a:gridCol w="1783737">
                  <a:extLst>
                    <a:ext uri="{9D8B030D-6E8A-4147-A177-3AD203B41FA5}">
                      <a16:colId xmlns:a16="http://schemas.microsoft.com/office/drawing/2014/main" val="2956010172"/>
                    </a:ext>
                  </a:extLst>
                </a:gridCol>
                <a:gridCol w="1344019">
                  <a:extLst>
                    <a:ext uri="{9D8B030D-6E8A-4147-A177-3AD203B41FA5}">
                      <a16:colId xmlns:a16="http://schemas.microsoft.com/office/drawing/2014/main" val="4037758943"/>
                    </a:ext>
                  </a:extLst>
                </a:gridCol>
              </a:tblGrid>
              <a:tr h="57657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Row Labels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Count of </a:t>
                      </a:r>
                      <a:r>
                        <a:rPr lang="en-GB" sz="1800" b="1" err="1">
                          <a:effectLst/>
                          <a:latin typeface="Aptos Narrow"/>
                        </a:rPr>
                        <a:t>user_id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Sum of </a:t>
                      </a:r>
                      <a:r>
                        <a:rPr lang="en-GB" sz="1800" b="1" err="1">
                          <a:effectLst/>
                          <a:latin typeface="Aptos Narrow"/>
                        </a:rPr>
                        <a:t>old_cl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Sum of </a:t>
                      </a:r>
                      <a:r>
                        <a:rPr lang="en-GB" sz="1800" b="1" err="1">
                          <a:effectLst/>
                          <a:latin typeface="Aptos Narrow"/>
                        </a:rPr>
                        <a:t>new_cl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CL Delta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% CL increase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610661"/>
                  </a:ext>
                </a:extLst>
              </a:tr>
              <a:tr h="576574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CL Decreased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5682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₱202,976,538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₱152,947,797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-₱50,028,741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-24.6%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079086"/>
                  </a:ext>
                </a:extLst>
              </a:tr>
              <a:tr h="576574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CL Increased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54093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₱1,150,264,787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₱2,965,400,575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₱1,815,135,788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157.8%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085360"/>
                  </a:ext>
                </a:extLst>
              </a:tr>
              <a:tr h="576574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No CL Increase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12027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₱524,414,396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₱561,411,692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₱-  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0.0%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2549143"/>
                  </a:ext>
                </a:extLst>
              </a:tr>
              <a:tr h="576574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Grand Total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71802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₱1,877,655,721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 ₱3,679,760,064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 ₱1,765,107,047 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94.0%</a:t>
                      </a:r>
                    </a:p>
                  </a:txBody>
                  <a:tcPr marL="9525" marR="9525" marT="952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6907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1224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41846-CC04-325F-2328-AB875DC5E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7565B3F7-C8C0-B997-A344-4BBEF436F16F}"/>
              </a:ext>
            </a:extLst>
          </p:cNvPr>
          <p:cNvSpPr>
            <a:spLocks noGrp="1"/>
          </p:cNvSpPr>
          <p:nvPr/>
        </p:nvSpPr>
        <p:spPr>
          <a:xfrm>
            <a:off x="187168" y="-1557"/>
            <a:ext cx="11996378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Incremental Portfolio Exposure contributed by New Borrowers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58F7EF6-8783-3B8C-1925-FCBCC2C48829}"/>
              </a:ext>
            </a:extLst>
          </p:cNvPr>
          <p:cNvGraphicFramePr>
            <a:graphicFrameLocks noGrp="1"/>
          </p:cNvGraphicFramePr>
          <p:nvPr/>
        </p:nvGraphicFramePr>
        <p:xfrm>
          <a:off x="303508" y="761999"/>
          <a:ext cx="11501058" cy="79037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501058">
                  <a:extLst>
                    <a:ext uri="{9D8B030D-6E8A-4147-A177-3AD203B41FA5}">
                      <a16:colId xmlns:a16="http://schemas.microsoft.com/office/drawing/2014/main" val="2281628252"/>
                    </a:ext>
                  </a:extLst>
                </a:gridCol>
              </a:tblGrid>
              <a:tr h="79037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800" b="0" i="0" u="none" strike="noStrike" noProof="0">
                          <a:solidFill>
                            <a:srgbClr val="242424"/>
                          </a:solidFill>
                          <a:effectLst/>
                        </a:rPr>
                        <a:t>Sum of credit limits as per onboarding from all the users who onboarded within Q4 2025 (this is regardless of CL+)</a:t>
                      </a:r>
                      <a:endParaRPr lang="en-US"/>
                    </a:p>
                  </a:txBody>
                  <a:tcPr marL="9525" marR="9525" marT="95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99915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FB0A37-E568-22F9-6AC0-AABA3B35EFFA}"/>
              </a:ext>
            </a:extLst>
          </p:cNvPr>
          <p:cNvGraphicFramePr>
            <a:graphicFrameLocks noGrp="1"/>
          </p:cNvGraphicFramePr>
          <p:nvPr/>
        </p:nvGraphicFramePr>
        <p:xfrm>
          <a:off x="1629798" y="1439663"/>
          <a:ext cx="8327738" cy="2636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161653">
                  <a:extLst>
                    <a:ext uri="{9D8B030D-6E8A-4147-A177-3AD203B41FA5}">
                      <a16:colId xmlns:a16="http://schemas.microsoft.com/office/drawing/2014/main" val="430776168"/>
                    </a:ext>
                  </a:extLst>
                </a:gridCol>
                <a:gridCol w="2708328">
                  <a:extLst>
                    <a:ext uri="{9D8B030D-6E8A-4147-A177-3AD203B41FA5}">
                      <a16:colId xmlns:a16="http://schemas.microsoft.com/office/drawing/2014/main" val="1893367226"/>
                    </a:ext>
                  </a:extLst>
                </a:gridCol>
                <a:gridCol w="2457757">
                  <a:extLst>
                    <a:ext uri="{9D8B030D-6E8A-4147-A177-3AD203B41FA5}">
                      <a16:colId xmlns:a16="http://schemas.microsoft.com/office/drawing/2014/main" val="30025513"/>
                    </a:ext>
                  </a:extLst>
                </a:gridCol>
              </a:tblGrid>
              <a:tr h="262076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b="1" err="1">
                          <a:effectLst/>
                          <a:latin typeface="Aptos Narrow"/>
                        </a:rPr>
                        <a:t>User_type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Count of </a:t>
                      </a:r>
                      <a:r>
                        <a:rPr lang="en-GB" sz="1800" b="1" err="1">
                          <a:effectLst/>
                          <a:latin typeface="Aptos Narrow"/>
                        </a:rPr>
                        <a:t>user_id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Sum of </a:t>
                      </a:r>
                      <a:r>
                        <a:rPr lang="en-GB" sz="1800" b="1" err="1">
                          <a:effectLst/>
                          <a:latin typeface="Aptos Narrow"/>
                        </a:rPr>
                        <a:t>new_cl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442606"/>
                  </a:ext>
                </a:extLst>
              </a:tr>
              <a:tr h="262076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Onboarded 2026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13,887 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₱13,717,008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127875"/>
                  </a:ext>
                </a:extLst>
              </a:tr>
              <a:tr h="262076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Onboarded before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126,965 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₱208,350,949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549852"/>
                  </a:ext>
                </a:extLst>
              </a:tr>
              <a:tr h="262076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Onboarded Q1 2025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19,567 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₱36,909,724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2616147"/>
                  </a:ext>
                </a:extLst>
              </a:tr>
              <a:tr h="262076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Onboarded Q2 2025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47,997 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₱33,489,651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706485"/>
                  </a:ext>
                </a:extLst>
              </a:tr>
              <a:tr h="262076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Onboarded Q3 2025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36,617 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₱266,837,959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854435"/>
                  </a:ext>
                </a:extLst>
              </a:tr>
              <a:tr h="262076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Onboarded Q4 2025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48,732 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₱197,716,420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0676431"/>
                  </a:ext>
                </a:extLst>
              </a:tr>
              <a:tr h="262076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Grand Total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293,765 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 ₱757,021,711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34443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9B67201-0EEF-4FF7-7A6E-304DF2FA90F3}"/>
              </a:ext>
            </a:extLst>
          </p:cNvPr>
          <p:cNvGraphicFramePr>
            <a:graphicFrameLocks noGrp="1"/>
          </p:cNvGraphicFramePr>
          <p:nvPr/>
        </p:nvGraphicFramePr>
        <p:xfrm>
          <a:off x="1640237" y="4391186"/>
          <a:ext cx="8339357" cy="20928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47654">
                  <a:extLst>
                    <a:ext uri="{9D8B030D-6E8A-4147-A177-3AD203B41FA5}">
                      <a16:colId xmlns:a16="http://schemas.microsoft.com/office/drawing/2014/main" val="280759208"/>
                    </a:ext>
                  </a:extLst>
                </a:gridCol>
                <a:gridCol w="2953880">
                  <a:extLst>
                    <a:ext uri="{9D8B030D-6E8A-4147-A177-3AD203B41FA5}">
                      <a16:colId xmlns:a16="http://schemas.microsoft.com/office/drawing/2014/main" val="1671226851"/>
                    </a:ext>
                  </a:extLst>
                </a:gridCol>
                <a:gridCol w="2337823">
                  <a:extLst>
                    <a:ext uri="{9D8B030D-6E8A-4147-A177-3AD203B41FA5}">
                      <a16:colId xmlns:a16="http://schemas.microsoft.com/office/drawing/2014/main" val="3479340278"/>
                    </a:ext>
                  </a:extLst>
                </a:gridCol>
              </a:tblGrid>
              <a:tr h="348812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b="1" err="1">
                          <a:effectLst/>
                          <a:latin typeface="Aptos Narrow"/>
                        </a:rPr>
                        <a:t>User_type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Count of </a:t>
                      </a:r>
                      <a:r>
                        <a:rPr lang="en-GB" sz="1800" b="1" err="1">
                          <a:effectLst/>
                          <a:latin typeface="Aptos Narrow"/>
                        </a:rPr>
                        <a:t>user_id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Percentage of users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AED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426016"/>
                  </a:ext>
                </a:extLst>
              </a:tr>
              <a:tr h="348812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err="1">
                          <a:effectLst/>
                          <a:latin typeface="Aptos Narrow"/>
                        </a:rPr>
                        <a:t>new_user_w_cl</a:t>
                      </a:r>
                      <a:r>
                        <a:rPr lang="en-GB" sz="1800">
                          <a:effectLst/>
                          <a:latin typeface="Aptos Narrow"/>
                        </a:rPr>
                        <a:t>+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6,205 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2.1%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295099"/>
                  </a:ext>
                </a:extLst>
              </a:tr>
              <a:tr h="348812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err="1">
                          <a:effectLst/>
                          <a:latin typeface="Aptos Narrow"/>
                        </a:rPr>
                        <a:t>new_user_w_no_cl</a:t>
                      </a:r>
                      <a:r>
                        <a:rPr lang="en-GB" sz="1800">
                          <a:effectLst/>
                          <a:latin typeface="Aptos Narrow"/>
                        </a:rPr>
                        <a:t>+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56,414 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19.2%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057733"/>
                  </a:ext>
                </a:extLst>
              </a:tr>
              <a:tr h="348812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err="1">
                          <a:effectLst/>
                          <a:latin typeface="Aptos Narrow"/>
                        </a:rPr>
                        <a:t>old_user_w_cl</a:t>
                      </a:r>
                      <a:r>
                        <a:rPr lang="en-GB" sz="1800">
                          <a:effectLst/>
                          <a:latin typeface="Aptos Narrow"/>
                        </a:rPr>
                        <a:t>+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10,904 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3.7%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565523"/>
                  </a:ext>
                </a:extLst>
              </a:tr>
              <a:tr h="348812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err="1">
                          <a:effectLst/>
                          <a:latin typeface="Aptos Narrow"/>
                        </a:rPr>
                        <a:t>old_user_w_no_cl</a:t>
                      </a:r>
                      <a:r>
                        <a:rPr lang="en-GB" sz="1800">
                          <a:effectLst/>
                          <a:latin typeface="Aptos Narrow"/>
                        </a:rPr>
                        <a:t>+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220,242 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75.0%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855454"/>
                  </a:ext>
                </a:extLst>
              </a:tr>
              <a:tr h="348812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Grand Total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effectLst/>
                          <a:latin typeface="Aptos Narrow"/>
                        </a:rPr>
                        <a:t>293,765 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100.0%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AED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528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6881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4E74A-3D32-182E-1578-E881E826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8BD7C5D0-A704-2D10-D742-96F4D5EBCE77}"/>
              </a:ext>
            </a:extLst>
          </p:cNvPr>
          <p:cNvSpPr>
            <a:spLocks noGrp="1"/>
          </p:cNvSpPr>
          <p:nvPr/>
        </p:nvSpPr>
        <p:spPr>
          <a:xfrm>
            <a:off x="187168" y="-1557"/>
            <a:ext cx="11996378" cy="925901"/>
          </a:xfrm>
          <a:prstGeom prst="rect">
            <a:avLst/>
          </a:prstGeom>
        </p:spPr>
        <p:txBody>
          <a:bodyPr vert="horz" lIns="0" tIns="91440" rIns="0" bIns="91440" rtlCol="0" anchor="t" anchorCtr="0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lang="hr-HR" sz="3150" b="1" kern="1200" spc="-90" baseline="0" noProof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800" b="1" i="0" u="none" strike="noStrike" kern="1200" cap="none" spc="-90" normalizeH="0" baseline="0" noProof="0">
                <a:ln>
                  <a:noFill/>
                </a:ln>
                <a:solidFill>
                  <a:srgbClr val="785AFF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Incremental Portfolio Exposure contributed by Higher Utilization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0E96FBD-323B-BE78-FED8-EC2CE5F23EDC}"/>
              </a:ext>
            </a:extLst>
          </p:cNvPr>
          <p:cNvGraphicFramePr>
            <a:graphicFrameLocks noGrp="1"/>
          </p:cNvGraphicFramePr>
          <p:nvPr/>
        </p:nvGraphicFramePr>
        <p:xfrm>
          <a:off x="303508" y="761999"/>
          <a:ext cx="11501058" cy="79037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501058">
                  <a:extLst>
                    <a:ext uri="{9D8B030D-6E8A-4147-A177-3AD203B41FA5}">
                      <a16:colId xmlns:a16="http://schemas.microsoft.com/office/drawing/2014/main" val="2281628252"/>
                    </a:ext>
                  </a:extLst>
                </a:gridCol>
              </a:tblGrid>
              <a:tr h="79037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1800" b="0" i="0" u="none" strike="noStrike" baseline="0" noProof="0">
                          <a:solidFill>
                            <a:srgbClr val="242424"/>
                          </a:solidFill>
                          <a:effectLst/>
                          <a:latin typeface="Aptos"/>
                        </a:rPr>
                        <a:t>July - December 2025 calculate end of month aggregated utilization at portfolio level</a:t>
                      </a:r>
                      <a:endParaRPr lang="en-US"/>
                    </a:p>
                  </a:txBody>
                  <a:tcPr marL="9525" marR="9525" marT="95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99915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5CEDDF2-3EDE-CFED-0501-3744D9FE7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744526"/>
              </p:ext>
            </p:extLst>
          </p:nvPr>
        </p:nvGraphicFramePr>
        <p:xfrm>
          <a:off x="736386" y="1684084"/>
          <a:ext cx="10333987" cy="2565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3845">
                  <a:extLst>
                    <a:ext uri="{9D8B030D-6E8A-4147-A177-3AD203B41FA5}">
                      <a16:colId xmlns:a16="http://schemas.microsoft.com/office/drawing/2014/main" val="3425447679"/>
                    </a:ext>
                  </a:extLst>
                </a:gridCol>
                <a:gridCol w="1988968">
                  <a:extLst>
                    <a:ext uri="{9D8B030D-6E8A-4147-A177-3AD203B41FA5}">
                      <a16:colId xmlns:a16="http://schemas.microsoft.com/office/drawing/2014/main" val="178618521"/>
                    </a:ext>
                  </a:extLst>
                </a:gridCol>
                <a:gridCol w="1988968">
                  <a:extLst>
                    <a:ext uri="{9D8B030D-6E8A-4147-A177-3AD203B41FA5}">
                      <a16:colId xmlns:a16="http://schemas.microsoft.com/office/drawing/2014/main" val="3384028222"/>
                    </a:ext>
                  </a:extLst>
                </a:gridCol>
                <a:gridCol w="2032206">
                  <a:extLst>
                    <a:ext uri="{9D8B030D-6E8A-4147-A177-3AD203B41FA5}">
                      <a16:colId xmlns:a16="http://schemas.microsoft.com/office/drawing/2014/main" val="2686044905"/>
                    </a:ext>
                  </a:extLst>
                </a:gridCol>
              </a:tblGrid>
              <a:tr h="366553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 b="1">
                          <a:solidFill>
                            <a:srgbClr val="FFFFFF"/>
                          </a:solidFill>
                          <a:effectLst/>
                          <a:latin typeface="Aptos Narrow"/>
                        </a:rPr>
                        <a:t>Report Month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solidFill>
                            <a:srgbClr val="FFFFFF"/>
                          </a:solidFill>
                          <a:effectLst/>
                          <a:latin typeface="Aptos Narrow"/>
                        </a:rPr>
                        <a:t>Credit Limit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solidFill>
                            <a:srgbClr val="FFFFFF"/>
                          </a:solidFill>
                          <a:effectLst/>
                          <a:latin typeface="Aptos Narrow"/>
                        </a:rPr>
                        <a:t>Unpaid Principal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 b="1">
                          <a:solidFill>
                            <a:srgbClr val="FFFFFF"/>
                          </a:solidFill>
                          <a:effectLst/>
                          <a:latin typeface="Aptos Narrow"/>
                        </a:rPr>
                        <a:t>% Utilization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1595368"/>
                  </a:ext>
                </a:extLst>
              </a:tr>
              <a:tr h="366553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2025-07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₱2,740,096,420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₱1,795,701,237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65.5%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6471064"/>
                  </a:ext>
                </a:extLst>
              </a:tr>
              <a:tr h="366553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2025-08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₱2,848,041,936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₱1,780,263,173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62.5%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9314685"/>
                  </a:ext>
                </a:extLst>
              </a:tr>
              <a:tr h="366553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2025-09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₱3,088,568,780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₱1,915,991,531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62.0%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9601432"/>
                  </a:ext>
                </a:extLst>
              </a:tr>
              <a:tr h="366553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2025-10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₱3,788,395,510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₱2,201,351,926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58.1%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7675013"/>
                  </a:ext>
                </a:extLst>
              </a:tr>
              <a:tr h="366553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2025-11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₱4,096,449,827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₱2,883,166,076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70.4%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0416848"/>
                  </a:ext>
                </a:extLst>
              </a:tr>
              <a:tr h="366553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2025-12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₱4,669,182,197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 ₱2,372,270,715 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800">
                          <a:effectLst/>
                          <a:latin typeface="Aptos Narrow"/>
                        </a:rPr>
                        <a:t>50.8%</a:t>
                      </a:r>
                    </a:p>
                  </a:txBody>
                  <a:tcPr marL="9525" marR="9525" marT="952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1753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5314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1935</Words>
  <Application>Microsoft Office PowerPoint</Application>
  <PresentationFormat>Widescreen</PresentationFormat>
  <Paragraphs>643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Aptos Narrow</vt:lpstr>
      <vt:lpstr>Arial</vt:lpstr>
      <vt:lpstr>Calibri</vt:lpstr>
      <vt:lpstr>Univers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Bhuvanesh</dc:creator>
  <cp:lastModifiedBy>Dwaipayan</cp:lastModifiedBy>
  <cp:revision>25</cp:revision>
  <dcterms:created xsi:type="dcterms:W3CDTF">2025-10-30T09:23:31Z</dcterms:created>
  <dcterms:modified xsi:type="dcterms:W3CDTF">2026-03-30T13:26:40Z</dcterms:modified>
</cp:coreProperties>
</file>